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7312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323354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02724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76326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315993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42950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159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664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62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680F27-A3DA-3A52-D172-938ABBFC4F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25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722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807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A9CC69-B818-799E-BEBB-1C31E3D3F0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75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5559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282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6022DA-388A-4097-D826-CE5638C25C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897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941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171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5A42D0-0498-7823-BB36-4EC04394EE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816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85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0931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3C1A45-B0C4-30F8-BEC2-A05C088B6C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6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4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860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5D08FB-D03B-50B3-445E-FA7BEFB017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613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8932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258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526199-A5C5-6946-01E2-17A299C405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176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223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47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F7C11-9A2E-EF3A-2CA3-4F6E4C4669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44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442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068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5DF463-A02A-557B-845B-5AD637756E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344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698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435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42F966-FC3D-24C0-ED6C-D76AB26E2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011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544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33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55FFB4-5580-41EE-E90F-DE693081BC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752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983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86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03015B-A69F-F01C-B03F-9CCCDBAA5D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15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6485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63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CFF6F7-7EC7-CD18-9E00-3224E2F531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580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299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863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33E1B9-2A9F-945E-720E-2749B2B5D4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116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8947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4067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11638A-65D3-AAAC-7C3F-139A6F404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331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8523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1920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DB20E5-AD94-39B4-AE01-3DF08E22DC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662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0755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12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01F436-668B-9DA6-FFD8-F6104BDF2F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368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4009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231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F5FE8A-7C68-6497-3411-315738276D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156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822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108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61861-C357-F8B4-9A8B-1EC6CAFB80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1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104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91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9962AE-986E-5356-F833-EECC243517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420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6491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791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C9205C-EC8C-161B-E293-F6AACB3478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062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6443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012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48A8C1-7F40-39AC-4CED-00102AB8EE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353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7616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166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71F4E4-7B1F-D9A1-55B7-7CD42AACC5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486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122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84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776CA2-9182-D9A1-43F5-63110557FD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686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620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17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BAB817-922D-8502-2F54-C9FD20FC16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594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440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143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F74EF3-4945-7D80-18AD-2E3BCCDFD7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814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9618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09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29D3F7-7DBD-49FB-85CC-2C987BCE64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803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255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846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9389BE-13E9-BF24-5340-971367691A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91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5697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624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8D0A7-976D-1D0D-25B7-2FCFCCD65D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23105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50262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15981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208262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54814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1575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70152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98523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215984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7521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5000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15600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67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300131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4582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897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67199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8846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87126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5471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0194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3279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10552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24241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66358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80423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81332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3347131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887991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2640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880866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5055092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634934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5276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43254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5287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75371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384087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69110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7289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24478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83044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58688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317213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700656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17914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154628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93574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637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646593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55820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263473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6314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86467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52256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1497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107722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45547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16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11113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04745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2270732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3306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43382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6709743" name="Rectangle 2"/>
          <p:cNvSpPr/>
          <p:nvPr/>
        </p:nvSpPr>
        <p:spPr bwMode="auto"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656476" name="TextBox 3"/>
          <p:cNvSpPr txBox="1"/>
          <p:nvPr/>
        </p:nvSpPr>
        <p:spPr bwMode="auto"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KYAMBOGO UNIVERSITY  •  SCHOOL OF COMPUTING AND INFORMATION SCIENCE</a:t>
            </a:r>
            <a:endParaRPr/>
          </a:p>
        </p:txBody>
      </p:sp>
      <p:sp>
        <p:nvSpPr>
          <p:cNvPr id="425784676" name="TextBox 4"/>
          <p:cNvSpPr txBox="1"/>
          <p:nvPr/>
        </p:nvSpPr>
        <p:spPr bwMode="auto">
          <a:xfrm>
            <a:off x="640080" y="15544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FFFFFF"/>
                </a:solidFill>
                <a:latin typeface="Calibri"/>
              </a:rPr>
              <a:t>An AI-Based Conversational Mental Health Support System</a:t>
            </a:r>
            <a:endParaRPr/>
          </a:p>
          <a:p>
            <a:pPr>
              <a:defRPr/>
            </a:pPr>
            <a:r>
              <a:rPr sz="2000" b="0">
                <a:solidFill>
                  <a:srgbClr val="C4A35A"/>
                </a:solidFill>
                <a:latin typeface="Calibri"/>
              </a:rPr>
              <a:t>Case Study: Students of Kyambogo University</a:t>
            </a:r>
            <a:endParaRPr/>
          </a:p>
        </p:txBody>
      </p:sp>
      <p:sp>
        <p:nvSpPr>
          <p:cNvPr id="1164217978" name="TextBox 5"/>
          <p:cNvSpPr txBox="1"/>
          <p:nvPr/>
        </p:nvSpPr>
        <p:spPr bwMode="auto">
          <a:xfrm>
            <a:off x="640080" y="3840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FFFFFF"/>
                </a:solidFill>
                <a:latin typeface="Calibri"/>
              </a:rPr>
              <a:t>Supervisor Presentation  |  Research Report Briefing</a:t>
            </a:r>
            <a:endParaRPr/>
          </a:p>
          <a:p>
            <a:pPr>
              <a:defRPr/>
            </a:pPr>
            <a:r>
              <a:rPr sz="1500" b="0">
                <a:solidFill>
                  <a:srgbClr val="F6F3EC"/>
                </a:solidFill>
                <a:latin typeface="Calibri"/>
              </a:rPr>
              <a:t>Supervisor: Dr. Busobozi Vivian Viola</a:t>
            </a:r>
            <a:endParaRPr/>
          </a:p>
          <a:p>
            <a:pPr>
              <a:defRPr/>
            </a:pPr>
            <a:r>
              <a:rPr sz="1400" b="0">
                <a:solidFill>
                  <a:srgbClr val="F6F3EC"/>
                </a:solidFill>
                <a:latin typeface="Calibri"/>
              </a:rPr>
              <a:t>Department of Computer Science  •  August 2026</a:t>
            </a:r>
            <a:endParaRPr/>
          </a:p>
        </p:txBody>
      </p:sp>
      <p:sp>
        <p:nvSpPr>
          <p:cNvPr id="1430850374" name="Rectangle 6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5102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16382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0117713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56849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Research Team</a:t>
            </a:r>
            <a:endParaRPr/>
          </a:p>
        </p:txBody>
      </p:sp>
      <p:sp>
        <p:nvSpPr>
          <p:cNvPr id="818056750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Bachelor of Information Systems  •  Final Year Project</a:t>
            </a:r>
            <a:endParaRPr/>
          </a:p>
        </p:txBody>
      </p:sp>
      <p:sp>
        <p:nvSpPr>
          <p:cNvPr id="2112585565" name="Rounded Rectangle 6"/>
          <p:cNvSpPr/>
          <p:nvPr/>
        </p:nvSpPr>
        <p:spPr bwMode="auto">
          <a:xfrm>
            <a:off x="457200" y="1554480"/>
            <a:ext cx="2148840" cy="155448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6064" name="TextBox 7"/>
          <p:cNvSpPr txBox="1"/>
          <p:nvPr/>
        </p:nvSpPr>
        <p:spPr bwMode="auto">
          <a:xfrm>
            <a:off x="621792" y="1664207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1B6B4A"/>
                </a:solidFill>
                <a:latin typeface="Calibri"/>
              </a:rPr>
              <a:t>Piima Smith</a:t>
            </a:r>
            <a:endParaRPr/>
          </a:p>
        </p:txBody>
      </p:sp>
      <p:sp>
        <p:nvSpPr>
          <p:cNvPr id="1789019172" name="TextBox 8"/>
          <p:cNvSpPr txBox="1"/>
          <p:nvPr/>
        </p:nvSpPr>
        <p:spPr bwMode="auto">
          <a:xfrm>
            <a:off x="621792" y="2011680"/>
            <a:ext cx="1819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>
                <a:solidFill>
                  <a:srgbClr val="1F2A28"/>
                </a:solidFill>
                <a:latin typeface="Calibri"/>
              </a:rPr>
              <a:t>23/U/ISD/12352/PD</a:t>
            </a:r>
            <a:endParaRPr/>
          </a:p>
        </p:txBody>
      </p:sp>
      <p:sp>
        <p:nvSpPr>
          <p:cNvPr id="1388453490" name="Rounded Rectangle 9"/>
          <p:cNvSpPr/>
          <p:nvPr/>
        </p:nvSpPr>
        <p:spPr bwMode="auto">
          <a:xfrm>
            <a:off x="2743200" y="1554480"/>
            <a:ext cx="2148840" cy="155448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01791" name="TextBox 10"/>
          <p:cNvSpPr txBox="1"/>
          <p:nvPr/>
        </p:nvSpPr>
        <p:spPr bwMode="auto">
          <a:xfrm>
            <a:off x="2907792" y="1664207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1B6B4A"/>
                </a:solidFill>
                <a:latin typeface="Calibri"/>
              </a:rPr>
              <a:t>Amuge Janet Noeline</a:t>
            </a:r>
            <a:endParaRPr/>
          </a:p>
        </p:txBody>
      </p:sp>
      <p:sp>
        <p:nvSpPr>
          <p:cNvPr id="379678483" name="TextBox 11"/>
          <p:cNvSpPr txBox="1"/>
          <p:nvPr/>
        </p:nvSpPr>
        <p:spPr bwMode="auto">
          <a:xfrm>
            <a:off x="2907792" y="2011680"/>
            <a:ext cx="1819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>
                <a:solidFill>
                  <a:srgbClr val="1F2A28"/>
                </a:solidFill>
                <a:latin typeface="Calibri"/>
              </a:rPr>
              <a:t>24/U/ISE/0773/PE</a:t>
            </a:r>
            <a:endParaRPr/>
          </a:p>
        </p:txBody>
      </p:sp>
      <p:sp>
        <p:nvSpPr>
          <p:cNvPr id="744363727" name="Rounded Rectangle 12"/>
          <p:cNvSpPr/>
          <p:nvPr/>
        </p:nvSpPr>
        <p:spPr bwMode="auto">
          <a:xfrm>
            <a:off x="5029200" y="1554480"/>
            <a:ext cx="2148840" cy="155448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4359991" name="TextBox 13"/>
          <p:cNvSpPr txBox="1"/>
          <p:nvPr/>
        </p:nvSpPr>
        <p:spPr bwMode="auto">
          <a:xfrm>
            <a:off x="5193792" y="1664207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1B6B4A"/>
                </a:solidFill>
                <a:latin typeface="Calibri"/>
              </a:rPr>
              <a:t>Nabifo Milly Joan</a:t>
            </a:r>
            <a:endParaRPr/>
          </a:p>
        </p:txBody>
      </p:sp>
      <p:sp>
        <p:nvSpPr>
          <p:cNvPr id="1035941047" name="TextBox 14"/>
          <p:cNvSpPr txBox="1"/>
          <p:nvPr/>
        </p:nvSpPr>
        <p:spPr bwMode="auto">
          <a:xfrm>
            <a:off x="5193792" y="2011680"/>
            <a:ext cx="1819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>
                <a:solidFill>
                  <a:srgbClr val="1F2A28"/>
                </a:solidFill>
                <a:latin typeface="Calibri"/>
              </a:rPr>
              <a:t>23/U/ISE/09140/PE</a:t>
            </a:r>
            <a:endParaRPr/>
          </a:p>
        </p:txBody>
      </p:sp>
      <p:sp>
        <p:nvSpPr>
          <p:cNvPr id="223600113" name="Rounded Rectangle 15"/>
          <p:cNvSpPr/>
          <p:nvPr/>
        </p:nvSpPr>
        <p:spPr bwMode="auto">
          <a:xfrm>
            <a:off x="7315200" y="1554480"/>
            <a:ext cx="2148840" cy="155448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9976148" name="TextBox 16"/>
          <p:cNvSpPr txBox="1"/>
          <p:nvPr/>
        </p:nvSpPr>
        <p:spPr bwMode="auto">
          <a:xfrm>
            <a:off x="7479792" y="1664207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1B6B4A"/>
                </a:solidFill>
                <a:latin typeface="Calibri"/>
              </a:rPr>
              <a:t>Kasogwa Silas Job</a:t>
            </a:r>
            <a:endParaRPr/>
          </a:p>
        </p:txBody>
      </p:sp>
      <p:sp>
        <p:nvSpPr>
          <p:cNvPr id="950119467" name="TextBox 17"/>
          <p:cNvSpPr txBox="1"/>
          <p:nvPr/>
        </p:nvSpPr>
        <p:spPr bwMode="auto">
          <a:xfrm>
            <a:off x="7479792" y="2011680"/>
            <a:ext cx="1819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>
                <a:solidFill>
                  <a:srgbClr val="1F2A28"/>
                </a:solidFill>
                <a:latin typeface="Calibri"/>
              </a:rPr>
              <a:t>23/U/ISD/06528/PD</a:t>
            </a:r>
            <a:endParaRPr/>
          </a:p>
        </p:txBody>
      </p:sp>
      <p:sp>
        <p:nvSpPr>
          <p:cNvPr id="671745948" name="Rounded Rectangle 18"/>
          <p:cNvSpPr/>
          <p:nvPr/>
        </p:nvSpPr>
        <p:spPr bwMode="auto">
          <a:xfrm>
            <a:off x="9601200" y="1554480"/>
            <a:ext cx="2148840" cy="155448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82466" name="TextBox 19"/>
          <p:cNvSpPr txBox="1"/>
          <p:nvPr/>
        </p:nvSpPr>
        <p:spPr bwMode="auto">
          <a:xfrm>
            <a:off x="9765792" y="1664207"/>
            <a:ext cx="1819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400" b="1">
                <a:solidFill>
                  <a:srgbClr val="1B6B4A"/>
                </a:solidFill>
                <a:latin typeface="Calibri"/>
              </a:rPr>
              <a:t>Nsiime Andrew</a:t>
            </a:r>
            <a:endParaRPr/>
          </a:p>
        </p:txBody>
      </p:sp>
      <p:sp>
        <p:nvSpPr>
          <p:cNvPr id="491427291" name="TextBox 20"/>
          <p:cNvSpPr txBox="1"/>
          <p:nvPr/>
        </p:nvSpPr>
        <p:spPr bwMode="auto">
          <a:xfrm>
            <a:off x="9765792" y="2011680"/>
            <a:ext cx="1819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200" b="0">
                <a:solidFill>
                  <a:srgbClr val="1F2A28"/>
                </a:solidFill>
                <a:latin typeface="Calibri"/>
              </a:rPr>
              <a:t>24/U/ISE/1555/PE</a:t>
            </a:r>
            <a:endParaRPr/>
          </a:p>
        </p:txBody>
      </p:sp>
      <p:sp>
        <p:nvSpPr>
          <p:cNvPr id="2143736687" name="Rounded Rectangle 21"/>
          <p:cNvSpPr/>
          <p:nvPr/>
        </p:nvSpPr>
        <p:spPr bwMode="auto">
          <a:xfrm>
            <a:off x="457200" y="3383280"/>
            <a:ext cx="11247120" cy="283464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394563" name="TextBox 22"/>
          <p:cNvSpPr txBox="1"/>
          <p:nvPr/>
        </p:nvSpPr>
        <p:spPr bwMode="auto">
          <a:xfrm>
            <a:off x="621792" y="3493008"/>
            <a:ext cx="10917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Purpose of this briefing</a:t>
            </a:r>
            <a:endParaRPr/>
          </a:p>
        </p:txBody>
      </p:sp>
      <p:sp>
        <p:nvSpPr>
          <p:cNvPr id="861617295" name="TextBox 23"/>
          <p:cNvSpPr txBox="1"/>
          <p:nvPr/>
        </p:nvSpPr>
        <p:spPr bwMode="auto">
          <a:xfrm>
            <a:off x="621792" y="3840480"/>
            <a:ext cx="1091793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To present the problem, objectives, methods, survey findings, system design, implementation, testing, and conclusions of the AI-based conversational mental health support platform developed for Kyambogo University students.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The system is designed as a complement to existing counselling services — not a replacement for professional care.</a:t>
            </a:r>
            <a:endParaRPr/>
          </a:p>
        </p:txBody>
      </p:sp>
      <p:sp>
        <p:nvSpPr>
          <p:cNvPr id="1207761702" name="Rectangle 2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607577" name="TextBox 25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97493032" name="TextBox 26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11707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410955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2980029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6179595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Presentation Outline</a:t>
            </a:r>
            <a:endParaRPr/>
          </a:p>
        </p:txBody>
      </p:sp>
      <p:sp>
        <p:nvSpPr>
          <p:cNvPr id="352667455" name="Rounded Rectangle 5"/>
          <p:cNvSpPr/>
          <p:nvPr/>
        </p:nvSpPr>
        <p:spPr bwMode="auto">
          <a:xfrm>
            <a:off x="457200" y="141732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471359" name="TextBox 6"/>
          <p:cNvSpPr txBox="1"/>
          <p:nvPr/>
        </p:nvSpPr>
        <p:spPr bwMode="auto">
          <a:xfrm>
            <a:off x="640080" y="158191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1. Background and problem</a:t>
            </a:r>
            <a:endParaRPr/>
          </a:p>
        </p:txBody>
      </p:sp>
      <p:sp>
        <p:nvSpPr>
          <p:cNvPr id="309991420" name="Rounded Rectangle 7"/>
          <p:cNvSpPr/>
          <p:nvPr/>
        </p:nvSpPr>
        <p:spPr bwMode="auto">
          <a:xfrm>
            <a:off x="457200" y="219456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928707" name="TextBox 8"/>
          <p:cNvSpPr txBox="1"/>
          <p:nvPr/>
        </p:nvSpPr>
        <p:spPr bwMode="auto">
          <a:xfrm>
            <a:off x="640080" y="235915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2. Purpose, objectives and questions</a:t>
            </a:r>
            <a:endParaRPr/>
          </a:p>
        </p:txBody>
      </p:sp>
      <p:sp>
        <p:nvSpPr>
          <p:cNvPr id="1446110253" name="Rounded Rectangle 9"/>
          <p:cNvSpPr/>
          <p:nvPr/>
        </p:nvSpPr>
        <p:spPr bwMode="auto">
          <a:xfrm>
            <a:off x="457200" y="297180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6118529" name="TextBox 10"/>
          <p:cNvSpPr txBox="1"/>
          <p:nvPr/>
        </p:nvSpPr>
        <p:spPr bwMode="auto">
          <a:xfrm>
            <a:off x="640080" y="31363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3. Scope and significance</a:t>
            </a:r>
            <a:endParaRPr/>
          </a:p>
        </p:txBody>
      </p:sp>
      <p:sp>
        <p:nvSpPr>
          <p:cNvPr id="815487124" name="Rounded Rectangle 11"/>
          <p:cNvSpPr/>
          <p:nvPr/>
        </p:nvSpPr>
        <p:spPr bwMode="auto">
          <a:xfrm>
            <a:off x="457200" y="3749039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5134187" name="TextBox 12"/>
          <p:cNvSpPr txBox="1"/>
          <p:nvPr/>
        </p:nvSpPr>
        <p:spPr bwMode="auto">
          <a:xfrm>
            <a:off x="640080" y="391363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4. Literature gap</a:t>
            </a:r>
            <a:endParaRPr/>
          </a:p>
        </p:txBody>
      </p:sp>
      <p:sp>
        <p:nvSpPr>
          <p:cNvPr id="970243778" name="Rounded Rectangle 13"/>
          <p:cNvSpPr/>
          <p:nvPr/>
        </p:nvSpPr>
        <p:spPr bwMode="auto">
          <a:xfrm>
            <a:off x="457200" y="452628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462036" name="TextBox 14"/>
          <p:cNvSpPr txBox="1"/>
          <p:nvPr/>
        </p:nvSpPr>
        <p:spPr bwMode="auto">
          <a:xfrm>
            <a:off x="640080" y="469087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5. Methodology</a:t>
            </a:r>
            <a:endParaRPr/>
          </a:p>
        </p:txBody>
      </p:sp>
      <p:sp>
        <p:nvSpPr>
          <p:cNvPr id="960867279" name="Rounded Rectangle 15"/>
          <p:cNvSpPr/>
          <p:nvPr/>
        </p:nvSpPr>
        <p:spPr bwMode="auto">
          <a:xfrm>
            <a:off x="457200" y="530352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696651" name="TextBox 16"/>
          <p:cNvSpPr txBox="1"/>
          <p:nvPr/>
        </p:nvSpPr>
        <p:spPr bwMode="auto">
          <a:xfrm>
            <a:off x="640080" y="546811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6. Survey data analysis (n = 79)</a:t>
            </a:r>
            <a:endParaRPr/>
          </a:p>
        </p:txBody>
      </p:sp>
      <p:sp>
        <p:nvSpPr>
          <p:cNvPr id="1022595564" name="Rounded Rectangle 17"/>
          <p:cNvSpPr/>
          <p:nvPr/>
        </p:nvSpPr>
        <p:spPr bwMode="auto">
          <a:xfrm>
            <a:off x="6263640" y="141732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840340" name="TextBox 18"/>
          <p:cNvSpPr txBox="1"/>
          <p:nvPr/>
        </p:nvSpPr>
        <p:spPr bwMode="auto">
          <a:xfrm>
            <a:off x="6446520" y="158191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7. Current counselling system (SWOT)</a:t>
            </a:r>
            <a:endParaRPr/>
          </a:p>
        </p:txBody>
      </p:sp>
      <p:sp>
        <p:nvSpPr>
          <p:cNvPr id="1171984225" name="Rounded Rectangle 19"/>
          <p:cNvSpPr/>
          <p:nvPr/>
        </p:nvSpPr>
        <p:spPr bwMode="auto">
          <a:xfrm>
            <a:off x="6263640" y="219456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5008569" name="TextBox 20"/>
          <p:cNvSpPr txBox="1"/>
          <p:nvPr/>
        </p:nvSpPr>
        <p:spPr bwMode="auto">
          <a:xfrm>
            <a:off x="6446520" y="235915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8. Requirements of the new system</a:t>
            </a:r>
            <a:endParaRPr/>
          </a:p>
        </p:txBody>
      </p:sp>
      <p:sp>
        <p:nvSpPr>
          <p:cNvPr id="1944394069" name="Rounded Rectangle 21"/>
          <p:cNvSpPr/>
          <p:nvPr/>
        </p:nvSpPr>
        <p:spPr bwMode="auto">
          <a:xfrm>
            <a:off x="6263640" y="297180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8700268" name="TextBox 22"/>
          <p:cNvSpPr txBox="1"/>
          <p:nvPr/>
        </p:nvSpPr>
        <p:spPr bwMode="auto">
          <a:xfrm>
            <a:off x="6446520" y="313639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9. Design (DFDs and ERD)</a:t>
            </a:r>
            <a:endParaRPr/>
          </a:p>
        </p:txBody>
      </p:sp>
      <p:sp>
        <p:nvSpPr>
          <p:cNvPr id="190815485" name="Rounded Rectangle 23"/>
          <p:cNvSpPr/>
          <p:nvPr/>
        </p:nvSpPr>
        <p:spPr bwMode="auto">
          <a:xfrm>
            <a:off x="6263640" y="3749039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833802" name="TextBox 24"/>
          <p:cNvSpPr txBox="1"/>
          <p:nvPr/>
        </p:nvSpPr>
        <p:spPr bwMode="auto">
          <a:xfrm>
            <a:off x="6446520" y="391363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10. Architecture and implementation</a:t>
            </a:r>
            <a:endParaRPr/>
          </a:p>
        </p:txBody>
      </p:sp>
      <p:sp>
        <p:nvSpPr>
          <p:cNvPr id="392690030" name="Rounded Rectangle 25"/>
          <p:cNvSpPr/>
          <p:nvPr/>
        </p:nvSpPr>
        <p:spPr bwMode="auto">
          <a:xfrm>
            <a:off x="6263640" y="452628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167203" name="TextBox 26"/>
          <p:cNvSpPr txBox="1"/>
          <p:nvPr/>
        </p:nvSpPr>
        <p:spPr bwMode="auto">
          <a:xfrm>
            <a:off x="6446520" y="469087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11. Testing and validation</a:t>
            </a:r>
            <a:endParaRPr/>
          </a:p>
        </p:txBody>
      </p:sp>
      <p:sp>
        <p:nvSpPr>
          <p:cNvPr id="1755254387" name="Rounded Rectangle 27"/>
          <p:cNvSpPr/>
          <p:nvPr/>
        </p:nvSpPr>
        <p:spPr bwMode="auto">
          <a:xfrm>
            <a:off x="6263640" y="5303520"/>
            <a:ext cx="54864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758210" name="TextBox 28"/>
          <p:cNvSpPr txBox="1"/>
          <p:nvPr/>
        </p:nvSpPr>
        <p:spPr bwMode="auto">
          <a:xfrm>
            <a:off x="6446520" y="5468112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12. Discussion, recommendations, conclusion</a:t>
            </a:r>
            <a:endParaRPr/>
          </a:p>
        </p:txBody>
      </p:sp>
      <p:sp>
        <p:nvSpPr>
          <p:cNvPr id="853695157" name="Rectangle 29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734989" name="TextBox 30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316660864" name="TextBox 31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73932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656967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712092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5810353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Background of the Study</a:t>
            </a:r>
            <a:endParaRPr/>
          </a:p>
        </p:txBody>
      </p:sp>
      <p:sp>
        <p:nvSpPr>
          <p:cNvPr id="1747054201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Uganda’s mental health treatment gap</a:t>
            </a:r>
            <a:endParaRPr/>
          </a:p>
        </p:txBody>
      </p:sp>
      <p:sp>
        <p:nvSpPr>
          <p:cNvPr id="1139902769" name="Rounded Rectangle 6"/>
          <p:cNvSpPr/>
          <p:nvPr/>
        </p:nvSpPr>
        <p:spPr bwMode="auto">
          <a:xfrm>
            <a:off x="411480" y="1371600"/>
            <a:ext cx="3657600" cy="214884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7839637" name="TextBox 7"/>
          <p:cNvSpPr txBox="1"/>
          <p:nvPr/>
        </p:nvSpPr>
        <p:spPr bwMode="auto">
          <a:xfrm>
            <a:off x="576072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200" b="1">
                <a:solidFill>
                  <a:srgbClr val="1B6B4A"/>
                </a:solidFill>
                <a:latin typeface="Calibri"/>
              </a:rPr>
              <a:t>24.2% / 22.9%</a:t>
            </a:r>
            <a:endParaRPr/>
          </a:p>
        </p:txBody>
      </p:sp>
      <p:sp>
        <p:nvSpPr>
          <p:cNvPr id="32529804" name="TextBox 8"/>
          <p:cNvSpPr txBox="1"/>
          <p:nvPr/>
        </p:nvSpPr>
        <p:spPr bwMode="auto">
          <a:xfrm>
            <a:off x="576072" y="182880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Adults / children in Uganda experience mental health conditions (State of Uganda Population Report, 2025).</a:t>
            </a:r>
            <a:endParaRPr/>
          </a:p>
        </p:txBody>
      </p:sp>
      <p:sp>
        <p:nvSpPr>
          <p:cNvPr id="125862718" name="Rounded Rectangle 9"/>
          <p:cNvSpPr/>
          <p:nvPr/>
        </p:nvSpPr>
        <p:spPr bwMode="auto">
          <a:xfrm>
            <a:off x="4251960" y="1371600"/>
            <a:ext cx="3657600" cy="214884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719907" name="TextBox 10"/>
          <p:cNvSpPr txBox="1"/>
          <p:nvPr/>
        </p:nvSpPr>
        <p:spPr bwMode="auto">
          <a:xfrm>
            <a:off x="4416552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200" b="1">
                <a:solidFill>
                  <a:srgbClr val="1B6B4A"/>
                </a:solidFill>
                <a:latin typeface="Calibri"/>
              </a:rPr>
              <a:t>&lt; 1 in 10</a:t>
            </a:r>
            <a:endParaRPr/>
          </a:p>
        </p:txBody>
      </p:sp>
      <p:sp>
        <p:nvSpPr>
          <p:cNvPr id="1398817369" name="TextBox 11"/>
          <p:cNvSpPr txBox="1"/>
          <p:nvPr/>
        </p:nvSpPr>
        <p:spPr bwMode="auto">
          <a:xfrm>
            <a:off x="4416552" y="182880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People who need care receive appropriate support — a large treatment gap.</a:t>
            </a:r>
            <a:endParaRPr/>
          </a:p>
        </p:txBody>
      </p:sp>
      <p:sp>
        <p:nvSpPr>
          <p:cNvPr id="1160045887" name="Rounded Rectangle 12"/>
          <p:cNvSpPr/>
          <p:nvPr/>
        </p:nvSpPr>
        <p:spPr bwMode="auto">
          <a:xfrm>
            <a:off x="8092440" y="1371600"/>
            <a:ext cx="3657600" cy="214884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809831" name="TextBox 13"/>
          <p:cNvSpPr txBox="1"/>
          <p:nvPr/>
        </p:nvSpPr>
        <p:spPr bwMode="auto">
          <a:xfrm>
            <a:off x="8257031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200" b="1">
                <a:solidFill>
                  <a:srgbClr val="1B6B4A"/>
                </a:solidFill>
                <a:latin typeface="Calibri"/>
              </a:rPr>
              <a:t>50.9%</a:t>
            </a:r>
            <a:endParaRPr/>
          </a:p>
        </p:txBody>
      </p:sp>
      <p:sp>
        <p:nvSpPr>
          <p:cNvPr id="1896779874" name="TextBox 14"/>
          <p:cNvSpPr txBox="1"/>
          <p:nvPr/>
        </p:nvSpPr>
        <p:spPr bwMode="auto">
          <a:xfrm>
            <a:off x="8257031" y="182880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Youth (18–30) not in employment, education or training, contributing to distress and untreated depression.</a:t>
            </a:r>
            <a:endParaRPr/>
          </a:p>
        </p:txBody>
      </p:sp>
      <p:sp>
        <p:nvSpPr>
          <p:cNvPr id="531832124" name="TextBox 15"/>
          <p:cNvSpPr txBox="1"/>
          <p:nvPr/>
        </p:nvSpPr>
        <p:spPr bwMode="auto">
          <a:xfrm>
            <a:off x="502920" y="3749039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University counselling services are limited in staff, hours, and reach; stigma further reduces help-seeking.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AI conversational agents (e.g. CBT-informed chatbots) can offer scalable, 24/7, stigma-reducing support.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This study develops a specialised system for Kyambogo University students, with escalation to human counselors.</a:t>
            </a:r>
            <a:endParaRPr/>
          </a:p>
        </p:txBody>
      </p:sp>
      <p:sp>
        <p:nvSpPr>
          <p:cNvPr id="1996531675" name="Rectangle 16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343430" name="TextBox 17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2073777639" name="TextBox 18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87598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266926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4091964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7082020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  <a:endParaRPr/>
          </a:p>
        </p:txBody>
      </p:sp>
      <p:sp>
        <p:nvSpPr>
          <p:cNvPr id="1201992804" name="TextBox 5"/>
          <p:cNvSpPr txBox="1"/>
          <p:nvPr/>
        </p:nvSpPr>
        <p:spPr bwMode="auto"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900" b="0">
                <a:solidFill>
                  <a:srgbClr val="1F2A28"/>
                </a:solidFill>
                <a:latin typeface="Calibri"/>
              </a:rPr>
              <a:t>•  Youth mental disorders are rising, yet timely, affordable, stigma-free care remains hard to access in universities.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900" b="0">
                <a:solidFill>
                  <a:srgbClr val="1F2A28"/>
                </a:solidFill>
                <a:latin typeface="Calibri"/>
              </a:rPr>
              <a:t>•  Shortage of trained professionals, social stigma, and financial barriers stop many students from seeking help.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900" b="0">
                <a:solidFill>
                  <a:srgbClr val="1F2A28"/>
                </a:solidFill>
                <a:latin typeface="Calibri"/>
              </a:rPr>
              <a:t>•  Existing AI tools are often poorly adapted to local culture, weakly validated clinically, and raise privacy concerns.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900" b="0">
                <a:solidFill>
                  <a:srgbClr val="1F2A28"/>
                </a:solidFill>
                <a:latin typeface="Calibri"/>
              </a:rPr>
              <a:t>•  Without a context-appropriate system, digital tools may be unused — or harmful through inaccurate assessments.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900" b="0">
                <a:solidFill>
                  <a:srgbClr val="1F2A28"/>
                </a:solidFill>
                <a:latin typeface="Calibri"/>
              </a:rPr>
              <a:t>•  Need: an AI-driven support system adapted to Kyambogo University students, linked to human counselors.</a:t>
            </a:r>
            <a:endParaRPr/>
          </a:p>
        </p:txBody>
      </p:sp>
      <p:sp>
        <p:nvSpPr>
          <p:cNvPr id="1044784651" name="Rectangle 6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4406728" name="TextBox 7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67147663" name="TextBox 8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71195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2815649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8178741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1699500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Purpose and Objectives</a:t>
            </a:r>
            <a:endParaRPr/>
          </a:p>
        </p:txBody>
      </p:sp>
      <p:sp>
        <p:nvSpPr>
          <p:cNvPr id="1306993136" name="Rounded Rectangle 5"/>
          <p:cNvSpPr/>
          <p:nvPr/>
        </p:nvSpPr>
        <p:spPr bwMode="auto">
          <a:xfrm>
            <a:off x="457200" y="1371600"/>
            <a:ext cx="11247120" cy="1417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0971590" name="TextBox 6"/>
          <p:cNvSpPr txBox="1"/>
          <p:nvPr/>
        </p:nvSpPr>
        <p:spPr bwMode="auto">
          <a:xfrm>
            <a:off x="621792" y="1481328"/>
            <a:ext cx="10917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Purpose / Main objective</a:t>
            </a:r>
            <a:endParaRPr/>
          </a:p>
        </p:txBody>
      </p:sp>
      <p:sp>
        <p:nvSpPr>
          <p:cNvPr id="1610852844" name="TextBox 7"/>
          <p:cNvSpPr txBox="1"/>
          <p:nvPr/>
        </p:nvSpPr>
        <p:spPr bwMode="auto">
          <a:xfrm>
            <a:off x="621792" y="1828800"/>
            <a:ext cx="109179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To develop an AI-based conversational mental health support system that detects early signs of mental distress among Kyambogo University students through text-based interactions.</a:t>
            </a:r>
            <a:endParaRPr/>
          </a:p>
        </p:txBody>
      </p:sp>
      <p:sp>
        <p:nvSpPr>
          <p:cNvPr id="652367619" name="Rounded Rectangle 8"/>
          <p:cNvSpPr/>
          <p:nvPr/>
        </p:nvSpPr>
        <p:spPr bwMode="auto">
          <a:xfrm>
            <a:off x="457200" y="2971800"/>
            <a:ext cx="5486400" cy="32004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8320829" name="TextBox 9"/>
          <p:cNvSpPr txBox="1"/>
          <p:nvPr/>
        </p:nvSpPr>
        <p:spPr bwMode="auto">
          <a:xfrm>
            <a:off x="621792" y="3081528"/>
            <a:ext cx="5157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Specific objectives</a:t>
            </a:r>
            <a:endParaRPr/>
          </a:p>
        </p:txBody>
      </p:sp>
      <p:sp>
        <p:nvSpPr>
          <p:cNvPr id="905821422" name="TextBox 10"/>
          <p:cNvSpPr txBox="1"/>
          <p:nvPr/>
        </p:nvSpPr>
        <p:spPr bwMode="auto">
          <a:xfrm>
            <a:off x="621792" y="3429000"/>
            <a:ext cx="51572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1. Explore variables associated with mental health distress among KyU students.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2. Design functional features required for an effective student mental health support system.</a:t>
            </a:r>
            <a:endParaRPr/>
          </a:p>
        </p:txBody>
      </p:sp>
      <p:sp>
        <p:nvSpPr>
          <p:cNvPr id="1035843357" name="Rounded Rectangle 11"/>
          <p:cNvSpPr/>
          <p:nvPr/>
        </p:nvSpPr>
        <p:spPr bwMode="auto">
          <a:xfrm>
            <a:off x="6172200" y="2971800"/>
            <a:ext cx="5532120" cy="32004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5407087" name="TextBox 12"/>
          <p:cNvSpPr txBox="1"/>
          <p:nvPr/>
        </p:nvSpPr>
        <p:spPr bwMode="auto">
          <a:xfrm>
            <a:off x="6336792" y="3081528"/>
            <a:ext cx="5202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Research questions</a:t>
            </a:r>
            <a:endParaRPr/>
          </a:p>
        </p:txBody>
      </p:sp>
      <p:sp>
        <p:nvSpPr>
          <p:cNvPr id="571051203" name="TextBox 13"/>
          <p:cNvSpPr txBox="1"/>
          <p:nvPr/>
        </p:nvSpPr>
        <p:spPr bwMode="auto">
          <a:xfrm>
            <a:off x="6336792" y="3429000"/>
            <a:ext cx="520293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General: How can such a system be developed to detect distress in text?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1. What variables are associated with distress among KyU students?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2. What functional features are required for an effective system?</a:t>
            </a:r>
            <a:endParaRPr/>
          </a:p>
        </p:txBody>
      </p:sp>
      <p:sp>
        <p:nvSpPr>
          <p:cNvPr id="903827653" name="Rectangle 1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94121" name="TextBox 15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696361504" name="TextBox 16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72344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952830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520237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1531569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Scope of the Study</a:t>
            </a:r>
            <a:endParaRPr/>
          </a:p>
        </p:txBody>
      </p:sp>
      <p:sp>
        <p:nvSpPr>
          <p:cNvPr id="895598755" name="Rounded Rectangle 5"/>
          <p:cNvSpPr/>
          <p:nvPr/>
        </p:nvSpPr>
        <p:spPr bwMode="auto">
          <a:xfrm>
            <a:off x="411480" y="1371600"/>
            <a:ext cx="370332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1935383" name="TextBox 6"/>
          <p:cNvSpPr txBox="1"/>
          <p:nvPr/>
        </p:nvSpPr>
        <p:spPr bwMode="auto">
          <a:xfrm>
            <a:off x="576072" y="148132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Subject scope</a:t>
            </a:r>
            <a:endParaRPr/>
          </a:p>
        </p:txBody>
      </p:sp>
      <p:sp>
        <p:nvSpPr>
          <p:cNvPr id="2112425512" name="TextBox 7"/>
          <p:cNvSpPr txBox="1"/>
          <p:nvPr/>
        </p:nvSpPr>
        <p:spPr bwMode="auto">
          <a:xfrm>
            <a:off x="576072" y="1828800"/>
            <a:ext cx="337413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Design, development and testing of KyU Wellness: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Auth (student/guest)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PHQ-9, GAD-7, PSS-10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CBT-informed AI chat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Hybrid distress detection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Crisis escalation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Wellness, journal, appointments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• Counselor dashboard</a:t>
            </a:r>
            <a:br>
              <a:rPr sz="1400" b="0">
                <a:solidFill>
                  <a:srgbClr val="1F2A28"/>
                </a:solidFill>
                <a:latin typeface="Calibri"/>
              </a:rPr>
            </a:br>
            <a:br>
              <a:rPr sz="1400" b="0">
                <a:solidFill>
                  <a:srgbClr val="1F2A28"/>
                </a:solidFill>
                <a:latin typeface="Calibri"/>
              </a:rPr>
            </a:br>
            <a:r>
              <a:rPr sz="1400" b="0">
                <a:solidFill>
                  <a:srgbClr val="1F2A28"/>
                </a:solidFill>
                <a:latin typeface="Calibri"/>
              </a:rPr>
              <a:t>Not covered: diagnosis, full therapy, or replacing professional counselling.</a:t>
            </a:r>
            <a:endParaRPr/>
          </a:p>
        </p:txBody>
      </p:sp>
      <p:sp>
        <p:nvSpPr>
          <p:cNvPr id="121319178" name="Rounded Rectangle 8"/>
          <p:cNvSpPr/>
          <p:nvPr/>
        </p:nvSpPr>
        <p:spPr bwMode="auto">
          <a:xfrm>
            <a:off x="4251960" y="1371600"/>
            <a:ext cx="370332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8120250" name="TextBox 9"/>
          <p:cNvSpPr txBox="1"/>
          <p:nvPr/>
        </p:nvSpPr>
        <p:spPr bwMode="auto">
          <a:xfrm>
            <a:off x="4416552" y="148132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Geographical scope</a:t>
            </a:r>
            <a:endParaRPr/>
          </a:p>
        </p:txBody>
      </p:sp>
      <p:sp>
        <p:nvSpPr>
          <p:cNvPr id="567771044" name="TextBox 10"/>
          <p:cNvSpPr txBox="1"/>
          <p:nvPr/>
        </p:nvSpPr>
        <p:spPr bwMode="auto">
          <a:xfrm>
            <a:off x="4416552" y="1828800"/>
            <a:ext cx="337413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Kyambogo University, Uganda.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Designed for students and counselling staff in the KyU community.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The platform is web-based, but data collection, design context, and intended users are centred on Kyambogo University.</a:t>
            </a:r>
            <a:endParaRPr/>
          </a:p>
        </p:txBody>
      </p:sp>
      <p:sp>
        <p:nvSpPr>
          <p:cNvPr id="1679727644" name="Rounded Rectangle 11"/>
          <p:cNvSpPr/>
          <p:nvPr/>
        </p:nvSpPr>
        <p:spPr bwMode="auto">
          <a:xfrm>
            <a:off x="8092440" y="1371600"/>
            <a:ext cx="365760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0322084" name="TextBox 12"/>
          <p:cNvSpPr txBox="1"/>
          <p:nvPr/>
        </p:nvSpPr>
        <p:spPr bwMode="auto">
          <a:xfrm>
            <a:off x="8257031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Time scope</a:t>
            </a:r>
            <a:endParaRPr/>
          </a:p>
        </p:txBody>
      </p:sp>
      <p:sp>
        <p:nvSpPr>
          <p:cNvPr id="838276748" name="TextBox 13"/>
          <p:cNvSpPr txBox="1"/>
          <p:nvPr/>
        </p:nvSpPr>
        <p:spPr bwMode="auto">
          <a:xfrm>
            <a:off x="8257031" y="1828800"/>
            <a:ext cx="332841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March – August 2026.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Covered: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Requirements gathering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System design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Implementation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Testing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Documentation</a:t>
            </a:r>
            <a:endParaRPr/>
          </a:p>
        </p:txBody>
      </p:sp>
      <p:sp>
        <p:nvSpPr>
          <p:cNvPr id="534253317" name="Rectangle 1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304817" name="TextBox 15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212758274" name="TextBox 16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47645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6668543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71411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4396255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Significance of the Study</a:t>
            </a:r>
            <a:endParaRPr/>
          </a:p>
        </p:txBody>
      </p:sp>
      <p:sp>
        <p:nvSpPr>
          <p:cNvPr id="1490612821" name="Rounded Rectangle 5"/>
          <p:cNvSpPr/>
          <p:nvPr/>
        </p:nvSpPr>
        <p:spPr bwMode="auto">
          <a:xfrm>
            <a:off x="411480" y="1371600"/>
            <a:ext cx="5623560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549431" name="TextBox 6"/>
          <p:cNvSpPr txBox="1"/>
          <p:nvPr/>
        </p:nvSpPr>
        <p:spPr bwMode="auto">
          <a:xfrm>
            <a:off x="576072" y="148132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1B6B4A"/>
                </a:solidFill>
                <a:latin typeface="Calibri"/>
              </a:rPr>
              <a:t>Students</a:t>
            </a:r>
            <a:endParaRPr/>
          </a:p>
        </p:txBody>
      </p:sp>
      <p:sp>
        <p:nvSpPr>
          <p:cNvPr id="979933887" name="TextBox 7"/>
          <p:cNvSpPr txBox="1"/>
          <p:nvPr/>
        </p:nvSpPr>
        <p:spPr bwMode="auto">
          <a:xfrm>
            <a:off x="576072" y="1828800"/>
            <a:ext cx="52943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Accessible, stigma-free, immediate support when counselling is hard to reach.</a:t>
            </a:r>
            <a:endParaRPr/>
          </a:p>
        </p:txBody>
      </p:sp>
      <p:sp>
        <p:nvSpPr>
          <p:cNvPr id="735790366" name="Rounded Rectangle 8"/>
          <p:cNvSpPr/>
          <p:nvPr/>
        </p:nvSpPr>
        <p:spPr bwMode="auto">
          <a:xfrm>
            <a:off x="6263640" y="1371600"/>
            <a:ext cx="5623560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0166489" name="TextBox 9"/>
          <p:cNvSpPr txBox="1"/>
          <p:nvPr/>
        </p:nvSpPr>
        <p:spPr bwMode="auto">
          <a:xfrm>
            <a:off x="6428232" y="148132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1B6B4A"/>
                </a:solidFill>
                <a:latin typeface="Calibri"/>
              </a:rPr>
              <a:t>Mental health professionals</a:t>
            </a:r>
            <a:endParaRPr/>
          </a:p>
        </p:txBody>
      </p:sp>
      <p:sp>
        <p:nvSpPr>
          <p:cNvPr id="994958532" name="TextBox 10"/>
          <p:cNvSpPr txBox="1"/>
          <p:nvPr/>
        </p:nvSpPr>
        <p:spPr bwMode="auto">
          <a:xfrm>
            <a:off x="6428232" y="1828800"/>
            <a:ext cx="52943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Supplementary tool for early detection, monitoring, and more targeted care.</a:t>
            </a:r>
            <a:endParaRPr/>
          </a:p>
        </p:txBody>
      </p:sp>
      <p:sp>
        <p:nvSpPr>
          <p:cNvPr id="1709436276" name="Rounded Rectangle 11"/>
          <p:cNvSpPr/>
          <p:nvPr/>
        </p:nvSpPr>
        <p:spPr bwMode="auto">
          <a:xfrm>
            <a:off x="411480" y="3749039"/>
            <a:ext cx="5623560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1531235" name="TextBox 12"/>
          <p:cNvSpPr txBox="1"/>
          <p:nvPr/>
        </p:nvSpPr>
        <p:spPr bwMode="auto">
          <a:xfrm>
            <a:off x="576072" y="385876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1B6B4A"/>
                </a:solidFill>
                <a:latin typeface="Calibri"/>
              </a:rPr>
              <a:t>Policymakers</a:t>
            </a:r>
            <a:endParaRPr/>
          </a:p>
        </p:txBody>
      </p:sp>
      <p:sp>
        <p:nvSpPr>
          <p:cNvPr id="1846038235" name="TextBox 13"/>
          <p:cNvSpPr txBox="1"/>
          <p:nvPr/>
        </p:nvSpPr>
        <p:spPr bwMode="auto">
          <a:xfrm>
            <a:off x="576072" y="4206240"/>
            <a:ext cx="52943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A scalable, cost-effective model aligned with equitable care goals (WHO, 2022).</a:t>
            </a:r>
            <a:endParaRPr/>
          </a:p>
        </p:txBody>
      </p:sp>
      <p:sp>
        <p:nvSpPr>
          <p:cNvPr id="741731673" name="Rounded Rectangle 14"/>
          <p:cNvSpPr/>
          <p:nvPr/>
        </p:nvSpPr>
        <p:spPr bwMode="auto">
          <a:xfrm>
            <a:off x="6263640" y="3749039"/>
            <a:ext cx="5623560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2179132" name="TextBox 15"/>
          <p:cNvSpPr txBox="1"/>
          <p:nvPr/>
        </p:nvSpPr>
        <p:spPr bwMode="auto">
          <a:xfrm>
            <a:off x="6428232" y="385876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1B6B4A"/>
                </a:solidFill>
                <a:latin typeface="Calibri"/>
              </a:rPr>
              <a:t>Academia</a:t>
            </a:r>
            <a:endParaRPr/>
          </a:p>
        </p:txBody>
      </p:sp>
      <p:sp>
        <p:nvSpPr>
          <p:cNvPr id="957900439" name="TextBox 16"/>
          <p:cNvSpPr txBox="1"/>
          <p:nvPr/>
        </p:nvSpPr>
        <p:spPr bwMode="auto">
          <a:xfrm>
            <a:off x="6428232" y="4206240"/>
            <a:ext cx="52943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Local evidence on AI in mental health, cultural fit, ethics, and evaluation.</a:t>
            </a:r>
            <a:endParaRPr/>
          </a:p>
        </p:txBody>
      </p:sp>
      <p:sp>
        <p:nvSpPr>
          <p:cNvPr id="1980151353" name="Rectangle 17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0499386" name="TextBox 18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796449559" name="TextBox 19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70934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014034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9241261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437791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Literature Gap</a:t>
            </a:r>
            <a:endParaRPr/>
          </a:p>
        </p:txBody>
      </p:sp>
      <p:sp>
        <p:nvSpPr>
          <p:cNvPr id="481302287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Chapter Two</a:t>
            </a:r>
            <a:endParaRPr/>
          </a:p>
        </p:txBody>
      </p:sp>
      <p:sp>
        <p:nvSpPr>
          <p:cNvPr id="1009838949" name="TextBox 6"/>
          <p:cNvSpPr txBox="1"/>
          <p:nvPr/>
        </p:nvSpPr>
        <p:spPr bwMode="auto">
          <a:xfrm>
            <a:off x="502920" y="1371600"/>
            <a:ext cx="11161439" cy="204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•  Student distress is often undetected until it becomes severe (academic, financial, social, personal stressors).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•  Most conversational AI evidence comes from foreign contexts, not Ugandan universities.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•  Tools such as Wysa show potential, but few systems combine: local context + text support + crisis detection + counselor escalation.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800" b="0">
                <a:solidFill>
                  <a:srgbClr val="1F2A28"/>
                </a:solidFill>
                <a:latin typeface="Calibri"/>
              </a:rPr>
              <a:t>•  Gap: a culturally and institutionally relevant system for Kyambogo University that detects early distress and enables timely counselor intervention.</a:t>
            </a:r>
            <a:endParaRPr/>
          </a:p>
        </p:txBody>
      </p:sp>
      <p:sp>
        <p:nvSpPr>
          <p:cNvPr id="1682959486" name="Rectangle 7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4992560" name="TextBox 8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072383038" name="TextBox 9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77586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6830833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3048950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452233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Methodology</a:t>
            </a:r>
            <a:endParaRPr/>
          </a:p>
        </p:txBody>
      </p:sp>
      <p:sp>
        <p:nvSpPr>
          <p:cNvPr id="269991438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Mixed-methods case study</a:t>
            </a:r>
            <a:endParaRPr/>
          </a:p>
        </p:txBody>
      </p:sp>
      <p:sp>
        <p:nvSpPr>
          <p:cNvPr id="1805068915" name="Rounded Rectangle 6"/>
          <p:cNvSpPr/>
          <p:nvPr/>
        </p:nvSpPr>
        <p:spPr bwMode="auto">
          <a:xfrm>
            <a:off x="411480" y="1371600"/>
            <a:ext cx="3703320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3766792" name="TextBox 7"/>
          <p:cNvSpPr txBox="1"/>
          <p:nvPr/>
        </p:nvSpPr>
        <p:spPr bwMode="auto">
          <a:xfrm>
            <a:off x="576072" y="148132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Design</a:t>
            </a:r>
            <a:endParaRPr/>
          </a:p>
        </p:txBody>
      </p:sp>
      <p:sp>
        <p:nvSpPr>
          <p:cNvPr id="1676345202" name="TextBox 8"/>
          <p:cNvSpPr txBox="1"/>
          <p:nvPr/>
        </p:nvSpPr>
        <p:spPr bwMode="auto">
          <a:xfrm>
            <a:off x="576072" y="1828800"/>
            <a:ext cx="3374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Qualitative + quantitative case study at Kyambogo University to explore distress factors and design a relevant AI system.</a:t>
            </a:r>
            <a:endParaRPr/>
          </a:p>
        </p:txBody>
      </p:sp>
      <p:sp>
        <p:nvSpPr>
          <p:cNvPr id="1953981410" name="Rounded Rectangle 9"/>
          <p:cNvSpPr/>
          <p:nvPr/>
        </p:nvSpPr>
        <p:spPr bwMode="auto">
          <a:xfrm>
            <a:off x="4251960" y="1371600"/>
            <a:ext cx="3703320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4078709" name="TextBox 10"/>
          <p:cNvSpPr txBox="1"/>
          <p:nvPr/>
        </p:nvSpPr>
        <p:spPr bwMode="auto">
          <a:xfrm>
            <a:off x="4416552" y="148132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Population / sample</a:t>
            </a:r>
            <a:endParaRPr/>
          </a:p>
        </p:txBody>
      </p:sp>
      <p:sp>
        <p:nvSpPr>
          <p:cNvPr id="300177615" name="TextBox 11"/>
          <p:cNvSpPr txBox="1"/>
          <p:nvPr/>
        </p:nvSpPr>
        <p:spPr bwMode="auto">
          <a:xfrm>
            <a:off x="4416552" y="1828800"/>
            <a:ext cx="3374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Undergraduates 18–30 with internet access.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Survey: 79 completed responses.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Interviews: 10–20 (purposive).</a:t>
            </a:r>
            <a:endParaRPr/>
          </a:p>
        </p:txBody>
      </p:sp>
      <p:sp>
        <p:nvSpPr>
          <p:cNvPr id="2074232739" name="Rounded Rectangle 12"/>
          <p:cNvSpPr/>
          <p:nvPr/>
        </p:nvSpPr>
        <p:spPr bwMode="auto">
          <a:xfrm>
            <a:off x="8092440" y="1371600"/>
            <a:ext cx="3657600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8750239" name="TextBox 13"/>
          <p:cNvSpPr txBox="1"/>
          <p:nvPr/>
        </p:nvSpPr>
        <p:spPr bwMode="auto">
          <a:xfrm>
            <a:off x="8257031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Data collection</a:t>
            </a:r>
            <a:endParaRPr/>
          </a:p>
        </p:txBody>
      </p:sp>
      <p:sp>
        <p:nvSpPr>
          <p:cNvPr id="72441089" name="TextBox 14"/>
          <p:cNvSpPr txBox="1"/>
          <p:nvPr/>
        </p:nvSpPr>
        <p:spPr bwMode="auto">
          <a:xfrm>
            <a:off x="8257031" y="1828800"/>
            <a:ext cx="33284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Online questionnaire (PHQ-9, GAD-7, PSS-10) and student interviews on stressors and help-seeking.</a:t>
            </a:r>
            <a:endParaRPr/>
          </a:p>
        </p:txBody>
      </p:sp>
      <p:sp>
        <p:nvSpPr>
          <p:cNvPr id="1551312147" name="Rounded Rectangle 15"/>
          <p:cNvSpPr/>
          <p:nvPr/>
        </p:nvSpPr>
        <p:spPr bwMode="auto">
          <a:xfrm>
            <a:off x="411480" y="3840480"/>
            <a:ext cx="370332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307338" name="TextBox 16"/>
          <p:cNvSpPr txBox="1"/>
          <p:nvPr/>
        </p:nvSpPr>
        <p:spPr bwMode="auto">
          <a:xfrm>
            <a:off x="576072" y="395020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System study</a:t>
            </a:r>
            <a:endParaRPr/>
          </a:p>
        </p:txBody>
      </p:sp>
      <p:sp>
        <p:nvSpPr>
          <p:cNvPr id="2096379178" name="TextBox 17"/>
          <p:cNvSpPr txBox="1"/>
          <p:nvPr/>
        </p:nvSpPr>
        <p:spPr bwMode="auto">
          <a:xfrm>
            <a:off x="576072" y="4297680"/>
            <a:ext cx="33741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Document analysis and observation of counselling workflows and digital wellbeing practices (Yin, 2017).</a:t>
            </a:r>
            <a:endParaRPr/>
          </a:p>
        </p:txBody>
      </p:sp>
      <p:sp>
        <p:nvSpPr>
          <p:cNvPr id="348364522" name="Rounded Rectangle 18"/>
          <p:cNvSpPr/>
          <p:nvPr/>
        </p:nvSpPr>
        <p:spPr bwMode="auto">
          <a:xfrm>
            <a:off x="4251960" y="3840480"/>
            <a:ext cx="370332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3669400" name="TextBox 19"/>
          <p:cNvSpPr txBox="1"/>
          <p:nvPr/>
        </p:nvSpPr>
        <p:spPr bwMode="auto">
          <a:xfrm>
            <a:off x="4416552" y="395020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System analysis</a:t>
            </a:r>
            <a:endParaRPr/>
          </a:p>
        </p:txBody>
      </p:sp>
      <p:sp>
        <p:nvSpPr>
          <p:cNvPr id="1451193440" name="TextBox 20"/>
          <p:cNvSpPr txBox="1"/>
          <p:nvPr/>
        </p:nvSpPr>
        <p:spPr bwMode="auto">
          <a:xfrm>
            <a:off x="4416552" y="4297680"/>
            <a:ext cx="33741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Use cases (Cockburn, 2000) and process mapping (Damelio, 2011) for auth, chat, assessments, escalation.</a:t>
            </a:r>
            <a:endParaRPr/>
          </a:p>
        </p:txBody>
      </p:sp>
      <p:sp>
        <p:nvSpPr>
          <p:cNvPr id="992433309" name="Rounded Rectangle 21"/>
          <p:cNvSpPr/>
          <p:nvPr/>
        </p:nvSpPr>
        <p:spPr bwMode="auto">
          <a:xfrm>
            <a:off x="8092440" y="3840480"/>
            <a:ext cx="365760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4015989" name="TextBox 22"/>
          <p:cNvSpPr txBox="1"/>
          <p:nvPr/>
        </p:nvSpPr>
        <p:spPr bwMode="auto">
          <a:xfrm>
            <a:off x="8257031" y="395020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Design models</a:t>
            </a:r>
            <a:endParaRPr/>
          </a:p>
        </p:txBody>
      </p:sp>
      <p:sp>
        <p:nvSpPr>
          <p:cNvPr id="1575526149" name="TextBox 23"/>
          <p:cNvSpPr txBox="1"/>
          <p:nvPr/>
        </p:nvSpPr>
        <p:spPr bwMode="auto">
          <a:xfrm>
            <a:off x="8257031" y="4297680"/>
            <a:ext cx="3328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DFDs for processes; E-R diagrams for the PostgreSQL schema.</a:t>
            </a:r>
            <a:endParaRPr/>
          </a:p>
        </p:txBody>
      </p:sp>
      <p:sp>
        <p:nvSpPr>
          <p:cNvPr id="1542482707" name="Rectangle 2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0620150" name="TextBox 25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771739904" name="TextBox 26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66291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110297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1016185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0309285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Data Analysis Methods</a:t>
            </a:r>
            <a:endParaRPr/>
          </a:p>
        </p:txBody>
      </p:sp>
      <p:sp>
        <p:nvSpPr>
          <p:cNvPr id="604865636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Responses.xlsx  •  79 consented students</a:t>
            </a:r>
            <a:endParaRPr/>
          </a:p>
        </p:txBody>
      </p:sp>
      <p:sp>
        <p:nvSpPr>
          <p:cNvPr id="777188666" name="Rounded Rectangle 6"/>
          <p:cNvSpPr/>
          <p:nvPr/>
        </p:nvSpPr>
        <p:spPr bwMode="auto">
          <a:xfrm>
            <a:off x="411480" y="1371600"/>
            <a:ext cx="562356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1458936" name="TextBox 7"/>
          <p:cNvSpPr txBox="1"/>
          <p:nvPr/>
        </p:nvSpPr>
        <p:spPr bwMode="auto">
          <a:xfrm>
            <a:off x="576072" y="1481328"/>
            <a:ext cx="1853532" cy="335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Quantitative (Excel)</a:t>
            </a:r>
            <a:endParaRPr/>
          </a:p>
        </p:txBody>
      </p:sp>
      <p:sp>
        <p:nvSpPr>
          <p:cNvPr id="791254651" name="TextBox 8"/>
          <p:cNvSpPr txBox="1"/>
          <p:nvPr/>
        </p:nvSpPr>
        <p:spPr bwMode="auto">
          <a:xfrm>
            <a:off x="576072" y="1828800"/>
            <a:ext cx="5301214" cy="21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Descriptive statistics were used for closed items: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Frequencies and percentages for demographics 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Means and Standard Deviations for PHQ-9, GAD-7, and PSS-10 scores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Severity bands using established cut-offs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Multiple-response counts for preferred features and concerns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This showed how common distress and AI acceptance were.</a:t>
            </a:r>
            <a:endParaRPr/>
          </a:p>
        </p:txBody>
      </p:sp>
      <p:sp>
        <p:nvSpPr>
          <p:cNvPr id="736036052" name="Rounded Rectangle 9"/>
          <p:cNvSpPr/>
          <p:nvPr/>
        </p:nvSpPr>
        <p:spPr bwMode="auto">
          <a:xfrm>
            <a:off x="6217920" y="1371600"/>
            <a:ext cx="557784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5152708" name="TextBox 10"/>
          <p:cNvSpPr txBox="1"/>
          <p:nvPr/>
        </p:nvSpPr>
        <p:spPr bwMode="auto">
          <a:xfrm>
            <a:off x="6382512" y="1481328"/>
            <a:ext cx="524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Qualitative (content analysis)</a:t>
            </a:r>
            <a:endParaRPr/>
          </a:p>
        </p:txBody>
      </p:sp>
      <p:sp>
        <p:nvSpPr>
          <p:cNvPr id="2061900900" name="TextBox 11"/>
          <p:cNvSpPr txBox="1"/>
          <p:nvPr/>
        </p:nvSpPr>
        <p:spPr bwMode="auto">
          <a:xfrm>
            <a:off x="6382512" y="1828800"/>
            <a:ext cx="5249374" cy="1920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Three open-ended questions were coded thematically: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Causes of student stress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Current coping practices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Suggested system improvements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This explained why students struggle and what they want from the system.</a:t>
            </a:r>
            <a:endParaRPr/>
          </a:p>
        </p:txBody>
      </p:sp>
      <p:sp>
        <p:nvSpPr>
          <p:cNvPr id="1791743379" name="Rectangle 12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5156023" name="TextBox 13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523081714" name="TextBox 14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26420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644669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140345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817716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Quantitative Findings</a:t>
            </a:r>
            <a:endParaRPr/>
          </a:p>
        </p:txBody>
      </p:sp>
      <p:sp>
        <p:nvSpPr>
          <p:cNvPr id="1968172950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n = 79 Kyambogo University students</a:t>
            </a:r>
            <a:endParaRPr/>
          </a:p>
        </p:txBody>
      </p:sp>
      <p:sp>
        <p:nvSpPr>
          <p:cNvPr id="1448319364" name="Rounded Rectangle 6"/>
          <p:cNvSpPr/>
          <p:nvPr/>
        </p:nvSpPr>
        <p:spPr bwMode="auto">
          <a:xfrm>
            <a:off x="365760" y="1325880"/>
            <a:ext cx="3749039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7230976" name="TextBox 7"/>
          <p:cNvSpPr txBox="1"/>
          <p:nvPr/>
        </p:nvSpPr>
        <p:spPr bwMode="auto">
          <a:xfrm>
            <a:off x="530352" y="1435607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Sample</a:t>
            </a:r>
            <a:endParaRPr/>
          </a:p>
        </p:txBody>
      </p:sp>
      <p:sp>
        <p:nvSpPr>
          <p:cNvPr id="492671113" name="TextBox 8"/>
          <p:cNvSpPr txBox="1"/>
          <p:nvPr/>
        </p:nvSpPr>
        <p:spPr bwMode="auto">
          <a:xfrm>
            <a:off x="530352" y="1783080"/>
            <a:ext cx="34198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59.5% male, 40.5% female. 53.2% aged 21–23. 60.8% Year 3. 44.3% from SCIS. 55.7% off-campus hostels. 63.3% not employed.</a:t>
            </a:r>
            <a:endParaRPr/>
          </a:p>
        </p:txBody>
      </p:sp>
      <p:sp>
        <p:nvSpPr>
          <p:cNvPr id="1333589060" name="Rounded Rectangle 9"/>
          <p:cNvSpPr/>
          <p:nvPr/>
        </p:nvSpPr>
        <p:spPr bwMode="auto">
          <a:xfrm>
            <a:off x="4251960" y="1325880"/>
            <a:ext cx="3749039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1218172" name="TextBox 10"/>
          <p:cNvSpPr txBox="1"/>
          <p:nvPr/>
        </p:nvSpPr>
        <p:spPr bwMode="auto">
          <a:xfrm>
            <a:off x="4416552" y="1435607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Distress scores</a:t>
            </a:r>
            <a:endParaRPr/>
          </a:p>
        </p:txBody>
      </p:sp>
      <p:sp>
        <p:nvSpPr>
          <p:cNvPr id="673167208" name="TextBox 11"/>
          <p:cNvSpPr txBox="1"/>
          <p:nvPr/>
        </p:nvSpPr>
        <p:spPr bwMode="auto">
          <a:xfrm>
            <a:off x="4416552" y="1783080"/>
            <a:ext cx="34198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PHQ-9 mean 8.7; 41.8% moderate or above. GAD-7 mean 7.3; 32.9% moderate/severe. PSS-10 mean 20.2; 81.0% moderate, 13.9% high stress.</a:t>
            </a:r>
            <a:endParaRPr/>
          </a:p>
        </p:txBody>
      </p:sp>
      <p:sp>
        <p:nvSpPr>
          <p:cNvPr id="960345078" name="Rounded Rectangle 12"/>
          <p:cNvSpPr/>
          <p:nvPr/>
        </p:nvSpPr>
        <p:spPr bwMode="auto">
          <a:xfrm>
            <a:off x="8138160" y="1325880"/>
            <a:ext cx="365760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4840777" name="TextBox 13"/>
          <p:cNvSpPr txBox="1"/>
          <p:nvPr/>
        </p:nvSpPr>
        <p:spPr bwMode="auto">
          <a:xfrm>
            <a:off x="8302752" y="1435607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Crisis signal</a:t>
            </a:r>
            <a:endParaRPr/>
          </a:p>
        </p:txBody>
      </p:sp>
      <p:sp>
        <p:nvSpPr>
          <p:cNvPr id="1772711178" name="TextBox 14"/>
          <p:cNvSpPr txBox="1"/>
          <p:nvPr/>
        </p:nvSpPr>
        <p:spPr bwMode="auto">
          <a:xfrm>
            <a:off x="8302752" y="1783080"/>
            <a:ext cx="3328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26.6% endorsed at least some thoughts of self-harm on PHQ-9 item 9 — supporting the need for distress detection and counselor escalation.</a:t>
            </a:r>
            <a:endParaRPr/>
          </a:p>
        </p:txBody>
      </p:sp>
      <p:sp>
        <p:nvSpPr>
          <p:cNvPr id="1838459826" name="Rounded Rectangle 15"/>
          <p:cNvSpPr/>
          <p:nvPr/>
        </p:nvSpPr>
        <p:spPr bwMode="auto">
          <a:xfrm>
            <a:off x="365760" y="384048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8643369" name="TextBox 16"/>
          <p:cNvSpPr txBox="1"/>
          <p:nvPr/>
        </p:nvSpPr>
        <p:spPr bwMode="auto">
          <a:xfrm>
            <a:off x="530352" y="395020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AI acceptance</a:t>
            </a:r>
            <a:endParaRPr/>
          </a:p>
        </p:txBody>
      </p:sp>
      <p:sp>
        <p:nvSpPr>
          <p:cNvPr id="236407716" name="TextBox 17"/>
          <p:cNvSpPr txBox="1"/>
          <p:nvPr/>
        </p:nvSpPr>
        <p:spPr bwMode="auto">
          <a:xfrm>
            <a:off x="530352" y="4297680"/>
            <a:ext cx="5304455" cy="73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34.2% had used a digital Mental Health tool before. 49.4% would feel comfortable using AI at Kyambogo University (38.0% maybe). 64.6% would recommend AI support for students.</a:t>
            </a:r>
            <a:endParaRPr/>
          </a:p>
        </p:txBody>
      </p:sp>
      <p:sp>
        <p:nvSpPr>
          <p:cNvPr id="443937683" name="Rounded Rectangle 18"/>
          <p:cNvSpPr/>
          <p:nvPr/>
        </p:nvSpPr>
        <p:spPr bwMode="auto">
          <a:xfrm>
            <a:off x="6172200" y="384048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9008500" name="TextBox 19"/>
          <p:cNvSpPr txBox="1"/>
          <p:nvPr/>
        </p:nvSpPr>
        <p:spPr bwMode="auto">
          <a:xfrm>
            <a:off x="6336792" y="395020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Features and concerns</a:t>
            </a:r>
            <a:endParaRPr/>
          </a:p>
        </p:txBody>
      </p:sp>
      <p:sp>
        <p:nvSpPr>
          <p:cNvPr id="1387323319" name="TextBox 20"/>
          <p:cNvSpPr txBox="1"/>
          <p:nvPr/>
        </p:nvSpPr>
        <p:spPr bwMode="auto">
          <a:xfrm>
            <a:off x="6336792" y="429768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Most wanted: anonymous counselling (57%), stress tips (52%), academic guidance (46%), chatbot (43%). Top concerns: privacy (68%), accuracy (49%), data security (44%).</a:t>
            </a:r>
            <a:endParaRPr/>
          </a:p>
        </p:txBody>
      </p:sp>
      <p:sp>
        <p:nvSpPr>
          <p:cNvPr id="1748731468" name="Rectangle 21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8343468" name="TextBox 22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24218921" name="TextBox 23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57523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2293737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809945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2725278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Qualitative Findings</a:t>
            </a:r>
            <a:endParaRPr/>
          </a:p>
        </p:txBody>
      </p:sp>
      <p:sp>
        <p:nvSpPr>
          <p:cNvPr id="1198258946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Thematic content analysis of open-ended responses</a:t>
            </a:r>
            <a:endParaRPr/>
          </a:p>
        </p:txBody>
      </p:sp>
      <p:sp>
        <p:nvSpPr>
          <p:cNvPr id="1951982208" name="Rounded Rectangle 6"/>
          <p:cNvSpPr/>
          <p:nvPr/>
        </p:nvSpPr>
        <p:spPr bwMode="auto">
          <a:xfrm>
            <a:off x="365760" y="1371600"/>
            <a:ext cx="3749039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648763" name="TextBox 7"/>
          <p:cNvSpPr txBox="1"/>
          <p:nvPr/>
        </p:nvSpPr>
        <p:spPr bwMode="auto">
          <a:xfrm>
            <a:off x="5303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Causes of stress</a:t>
            </a:r>
            <a:endParaRPr/>
          </a:p>
        </p:txBody>
      </p:sp>
      <p:sp>
        <p:nvSpPr>
          <p:cNvPr id="946444190" name="TextBox 8"/>
          <p:cNvSpPr txBox="1"/>
          <p:nvPr/>
        </p:nvSpPr>
        <p:spPr bwMode="auto">
          <a:xfrm>
            <a:off x="530352" y="1828800"/>
            <a:ext cx="341985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Financial pressure, poverty, and tuition were the most common themes (about 65% of answers), followed by academics, exams, and workload (33%), then relationships (18%). Distress is mainly financial and academic.</a:t>
            </a:r>
            <a:endParaRPr/>
          </a:p>
        </p:txBody>
      </p:sp>
      <p:sp>
        <p:nvSpPr>
          <p:cNvPr id="835998712" name="Rounded Rectangle 9"/>
          <p:cNvSpPr/>
          <p:nvPr/>
        </p:nvSpPr>
        <p:spPr bwMode="auto">
          <a:xfrm>
            <a:off x="4251960" y="1371600"/>
            <a:ext cx="3749039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6823581" name="TextBox 10"/>
          <p:cNvSpPr txBox="1"/>
          <p:nvPr/>
        </p:nvSpPr>
        <p:spPr bwMode="auto">
          <a:xfrm>
            <a:off x="44165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How students cope</a:t>
            </a:r>
            <a:endParaRPr/>
          </a:p>
        </p:txBody>
      </p:sp>
      <p:sp>
        <p:nvSpPr>
          <p:cNvPr id="731750512" name="TextBox 11"/>
          <p:cNvSpPr txBox="1"/>
          <p:nvPr/>
        </p:nvSpPr>
        <p:spPr bwMode="auto">
          <a:xfrm>
            <a:off x="4416552" y="1828800"/>
            <a:ext cx="341985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Most students self-cope: talking to friends, music, rest or walks, and prayer. Few mentioned professional counselling. This supports a low-barrier digital entry point before face-to-face help.</a:t>
            </a:r>
            <a:endParaRPr/>
          </a:p>
        </p:txBody>
      </p:sp>
      <p:sp>
        <p:nvSpPr>
          <p:cNvPr id="1845805195" name="Rounded Rectangle 12"/>
          <p:cNvSpPr/>
          <p:nvPr/>
        </p:nvSpPr>
        <p:spPr bwMode="auto">
          <a:xfrm>
            <a:off x="8138160" y="1371600"/>
            <a:ext cx="365760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7234044" name="TextBox 13"/>
          <p:cNvSpPr txBox="1"/>
          <p:nvPr/>
        </p:nvSpPr>
        <p:spPr bwMode="auto">
          <a:xfrm>
            <a:off x="8302752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What they want in the system</a:t>
            </a:r>
            <a:endParaRPr/>
          </a:p>
        </p:txBody>
      </p:sp>
      <p:sp>
        <p:nvSpPr>
          <p:cNvPr id="513425199" name="TextBox 14"/>
          <p:cNvSpPr txBox="1"/>
          <p:nvPr/>
        </p:nvSpPr>
        <p:spPr bwMode="auto">
          <a:xfrm>
            <a:off x="8302752" y="1828800"/>
            <a:ext cx="332841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Privacy, confidentiality, and data security; easier use; practical solutions; and a link to human counselling or alerts when needed. These themes shaped guest access, chat, crisis escalation, and counselor tools.</a:t>
            </a:r>
            <a:endParaRPr/>
          </a:p>
        </p:txBody>
      </p:sp>
      <p:sp>
        <p:nvSpPr>
          <p:cNvPr id="902019864" name="Rectangle 15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264440" name="TextBox 16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437051681" name="TextBox 17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66759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542901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4268543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6886908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Current System: SWOT</a:t>
            </a:r>
            <a:endParaRPr/>
          </a:p>
        </p:txBody>
      </p:sp>
      <p:sp>
        <p:nvSpPr>
          <p:cNvPr id="295298056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Guidance and Counselling Unit — Students’ Welfare Department</a:t>
            </a:r>
            <a:endParaRPr/>
          </a:p>
        </p:txBody>
      </p:sp>
      <p:sp>
        <p:nvSpPr>
          <p:cNvPr id="150498939" name="Rounded Rectangle 6"/>
          <p:cNvSpPr/>
          <p:nvPr/>
        </p:nvSpPr>
        <p:spPr bwMode="auto">
          <a:xfrm>
            <a:off x="365760" y="137160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8953678" name="TextBox 7"/>
          <p:cNvSpPr txBox="1"/>
          <p:nvPr/>
        </p:nvSpPr>
        <p:spPr bwMode="auto">
          <a:xfrm>
            <a:off x="530352" y="148132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Strengths</a:t>
            </a:r>
            <a:endParaRPr/>
          </a:p>
        </p:txBody>
      </p:sp>
      <p:sp>
        <p:nvSpPr>
          <p:cNvPr id="914428911" name="TextBox 8"/>
          <p:cNvSpPr txBox="1"/>
          <p:nvPr/>
        </p:nvSpPr>
        <p:spPr bwMode="auto">
          <a:xfrm>
            <a:off x="530352" y="182880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Free, confidential professional counselling; individual/group/crisis/peer support; trained psychologists; student-focused issues.</a:t>
            </a:r>
            <a:endParaRPr/>
          </a:p>
        </p:txBody>
      </p:sp>
      <p:sp>
        <p:nvSpPr>
          <p:cNvPr id="1050121759" name="Rounded Rectangle 9"/>
          <p:cNvSpPr/>
          <p:nvPr/>
        </p:nvSpPr>
        <p:spPr bwMode="auto">
          <a:xfrm>
            <a:off x="6172200" y="137160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023040" name="TextBox 10"/>
          <p:cNvSpPr txBox="1"/>
          <p:nvPr/>
        </p:nvSpPr>
        <p:spPr bwMode="auto">
          <a:xfrm>
            <a:off x="6336792" y="148132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Weaknesses</a:t>
            </a:r>
            <a:endParaRPr/>
          </a:p>
        </p:txBody>
      </p:sp>
      <p:sp>
        <p:nvSpPr>
          <p:cNvPr id="484731887" name="TextBox 11"/>
          <p:cNvSpPr txBox="1"/>
          <p:nvPr/>
        </p:nvSpPr>
        <p:spPr bwMode="auto">
          <a:xfrm>
            <a:off x="6336792" y="182880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Mostly face-to-face; few staff; office hours only; no automated early detection; relies on self-referral.</a:t>
            </a:r>
            <a:endParaRPr/>
          </a:p>
        </p:txBody>
      </p:sp>
      <p:sp>
        <p:nvSpPr>
          <p:cNvPr id="395942534" name="Rounded Rectangle 12"/>
          <p:cNvSpPr/>
          <p:nvPr/>
        </p:nvSpPr>
        <p:spPr bwMode="auto">
          <a:xfrm>
            <a:off x="365760" y="384048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537866" name="TextBox 13"/>
          <p:cNvSpPr txBox="1"/>
          <p:nvPr/>
        </p:nvSpPr>
        <p:spPr bwMode="auto">
          <a:xfrm>
            <a:off x="530352" y="395020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Opportunities</a:t>
            </a:r>
            <a:endParaRPr/>
          </a:p>
        </p:txBody>
      </p:sp>
      <p:sp>
        <p:nvSpPr>
          <p:cNvPr id="2026005556" name="TextBox 14"/>
          <p:cNvSpPr txBox="1"/>
          <p:nvPr/>
        </p:nvSpPr>
        <p:spPr bwMode="auto">
          <a:xfrm>
            <a:off x="530352" y="429768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Digital health tools; 24/7 AI screening; integrate with existing unit; growing mental-health awareness.</a:t>
            </a:r>
            <a:endParaRPr/>
          </a:p>
        </p:txBody>
      </p:sp>
      <p:sp>
        <p:nvSpPr>
          <p:cNvPr id="1370838410" name="Rounded Rectangle 15"/>
          <p:cNvSpPr/>
          <p:nvPr/>
        </p:nvSpPr>
        <p:spPr bwMode="auto">
          <a:xfrm>
            <a:off x="6172200" y="384048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9737948" name="TextBox 16"/>
          <p:cNvSpPr txBox="1"/>
          <p:nvPr/>
        </p:nvSpPr>
        <p:spPr bwMode="auto">
          <a:xfrm>
            <a:off x="6336792" y="395020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Threats</a:t>
            </a:r>
            <a:endParaRPr/>
          </a:p>
        </p:txBody>
      </p:sp>
      <p:sp>
        <p:nvSpPr>
          <p:cNvPr id="352744090" name="TextBox 17"/>
          <p:cNvSpPr txBox="1"/>
          <p:nvPr/>
        </p:nvSpPr>
        <p:spPr bwMode="auto">
          <a:xfrm>
            <a:off x="6336792" y="429768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Stigma; funding/staffing; distrust of digital tools; limited devices/internet/digital literacy.</a:t>
            </a:r>
            <a:endParaRPr/>
          </a:p>
        </p:txBody>
      </p:sp>
      <p:sp>
        <p:nvSpPr>
          <p:cNvPr id="653853590" name="Rectangle 18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362381" name="TextBox 19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236347926" name="TextBox 20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73965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9175136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2503632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1311013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Requirements of the New System</a:t>
            </a:r>
            <a:endParaRPr/>
          </a:p>
        </p:txBody>
      </p:sp>
      <p:sp>
        <p:nvSpPr>
          <p:cNvPr id="1905507110" name="Rounded Rectangle 5"/>
          <p:cNvSpPr/>
          <p:nvPr/>
        </p:nvSpPr>
        <p:spPr bwMode="auto">
          <a:xfrm>
            <a:off x="365760" y="137160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2577865" name="TextBox 6"/>
          <p:cNvSpPr txBox="1"/>
          <p:nvPr/>
        </p:nvSpPr>
        <p:spPr bwMode="auto">
          <a:xfrm>
            <a:off x="5303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Users</a:t>
            </a:r>
            <a:endParaRPr/>
          </a:p>
        </p:txBody>
      </p:sp>
      <p:sp>
        <p:nvSpPr>
          <p:cNvPr id="752772129" name="TextBox 7"/>
          <p:cNvSpPr txBox="1"/>
          <p:nvPr/>
        </p:nvSpPr>
        <p:spPr bwMode="auto">
          <a:xfrm>
            <a:off x="530352" y="1828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Students, guests, counselors, admins — register/login, anonymous guest, bilingual EN/LG.</a:t>
            </a:r>
            <a:endParaRPr/>
          </a:p>
        </p:txBody>
      </p:sp>
      <p:sp>
        <p:nvSpPr>
          <p:cNvPr id="725050021" name="Rounded Rectangle 8"/>
          <p:cNvSpPr/>
          <p:nvPr/>
        </p:nvSpPr>
        <p:spPr bwMode="auto">
          <a:xfrm>
            <a:off x="4251960" y="137160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860200" name="TextBox 9"/>
          <p:cNvSpPr txBox="1"/>
          <p:nvPr/>
        </p:nvSpPr>
        <p:spPr bwMode="auto">
          <a:xfrm>
            <a:off x="44165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Assessments</a:t>
            </a:r>
            <a:endParaRPr/>
          </a:p>
        </p:txBody>
      </p:sp>
      <p:sp>
        <p:nvSpPr>
          <p:cNvPr id="1107920925" name="TextBox 10"/>
          <p:cNvSpPr txBox="1"/>
          <p:nvPr/>
        </p:nvSpPr>
        <p:spPr bwMode="auto">
          <a:xfrm>
            <a:off x="4416552" y="1828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PHQ-9, GAD-7, PSS-10 with scores, severity, history and trends.</a:t>
            </a:r>
            <a:endParaRPr/>
          </a:p>
        </p:txBody>
      </p:sp>
      <p:sp>
        <p:nvSpPr>
          <p:cNvPr id="1568323892" name="Rounded Rectangle 11"/>
          <p:cNvSpPr/>
          <p:nvPr/>
        </p:nvSpPr>
        <p:spPr bwMode="auto">
          <a:xfrm>
            <a:off x="8138160" y="137160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0339111" name="TextBox 12"/>
          <p:cNvSpPr txBox="1"/>
          <p:nvPr/>
        </p:nvSpPr>
        <p:spPr bwMode="auto">
          <a:xfrm>
            <a:off x="83027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AI chat + distress</a:t>
            </a:r>
            <a:endParaRPr/>
          </a:p>
        </p:txBody>
      </p:sp>
      <p:sp>
        <p:nvSpPr>
          <p:cNvPr id="1907560663" name="TextBox 13"/>
          <p:cNvSpPr txBox="1"/>
          <p:nvPr/>
        </p:nvSpPr>
        <p:spPr bwMode="auto">
          <a:xfrm>
            <a:off x="8302752" y="1828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CBT-informed chat; hybrid rules + AI; levels low–crisis; escalate to counselors.</a:t>
            </a:r>
            <a:endParaRPr/>
          </a:p>
        </p:txBody>
      </p:sp>
      <p:sp>
        <p:nvSpPr>
          <p:cNvPr id="1083820906" name="Rounded Rectangle 14"/>
          <p:cNvSpPr/>
          <p:nvPr/>
        </p:nvSpPr>
        <p:spPr bwMode="auto">
          <a:xfrm>
            <a:off x="365760" y="384048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361954" name="TextBox 15"/>
          <p:cNvSpPr txBox="1"/>
          <p:nvPr/>
        </p:nvSpPr>
        <p:spPr bwMode="auto">
          <a:xfrm>
            <a:off x="530352" y="395020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Wellness</a:t>
            </a:r>
            <a:endParaRPr/>
          </a:p>
        </p:txBody>
      </p:sp>
      <p:sp>
        <p:nvSpPr>
          <p:cNvPr id="648815522" name="TextBox 16"/>
          <p:cNvSpPr txBox="1"/>
          <p:nvPr/>
        </p:nvSpPr>
        <p:spPr bwMode="auto">
          <a:xfrm>
            <a:off x="530352" y="42976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Mood, check-ins, journal, dashboard, appointments, feedback.</a:t>
            </a:r>
            <a:endParaRPr/>
          </a:p>
        </p:txBody>
      </p:sp>
      <p:sp>
        <p:nvSpPr>
          <p:cNvPr id="870215315" name="Rounded Rectangle 17"/>
          <p:cNvSpPr/>
          <p:nvPr/>
        </p:nvSpPr>
        <p:spPr bwMode="auto">
          <a:xfrm>
            <a:off x="4251960" y="384048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3973412" name="TextBox 18"/>
          <p:cNvSpPr txBox="1"/>
          <p:nvPr/>
        </p:nvSpPr>
        <p:spPr bwMode="auto">
          <a:xfrm>
            <a:off x="4416552" y="395020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Counselor tools</a:t>
            </a:r>
            <a:endParaRPr/>
          </a:p>
        </p:txBody>
      </p:sp>
      <p:sp>
        <p:nvSpPr>
          <p:cNvPr id="1814241760" name="TextBox 19"/>
          <p:cNvSpPr txBox="1"/>
          <p:nvPr/>
        </p:nvSpPr>
        <p:spPr bwMode="auto">
          <a:xfrm>
            <a:off x="4416552" y="42976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Alerts, caseload, student detail, appointment queue, feedback review.</a:t>
            </a:r>
            <a:endParaRPr/>
          </a:p>
        </p:txBody>
      </p:sp>
      <p:sp>
        <p:nvSpPr>
          <p:cNvPr id="707903054" name="Rounded Rectangle 20"/>
          <p:cNvSpPr/>
          <p:nvPr/>
        </p:nvSpPr>
        <p:spPr bwMode="auto">
          <a:xfrm>
            <a:off x="8138160" y="384048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790614" name="TextBox 21"/>
          <p:cNvSpPr txBox="1"/>
          <p:nvPr/>
        </p:nvSpPr>
        <p:spPr bwMode="auto">
          <a:xfrm>
            <a:off x="8302752" y="395020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Quality</a:t>
            </a:r>
            <a:endParaRPr/>
          </a:p>
        </p:txBody>
      </p:sp>
      <p:sp>
        <p:nvSpPr>
          <p:cNvPr id="438715666" name="TextBox 22"/>
          <p:cNvSpPr txBox="1"/>
          <p:nvPr/>
        </p:nvSpPr>
        <p:spPr bwMode="auto">
          <a:xfrm>
            <a:off x="8302752" y="42976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0">
                <a:solidFill>
                  <a:srgbClr val="1F2A28"/>
                </a:solidFill>
                <a:latin typeface="Calibri"/>
              </a:rPr>
              <a:t>Security (bcrypt, JWT, RBAC), privacy, usability, reliability, disclaimers.</a:t>
            </a:r>
            <a:endParaRPr/>
          </a:p>
        </p:txBody>
      </p:sp>
      <p:sp>
        <p:nvSpPr>
          <p:cNvPr id="2120603652" name="Rectangle 23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982186" name="TextBox 24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287470761" name="TextBox 25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49801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8898782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395798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4275332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System Design — Data Flow Diagrams</a:t>
            </a:r>
            <a:endParaRPr/>
          </a:p>
        </p:txBody>
      </p:sp>
      <p:sp>
        <p:nvSpPr>
          <p:cNvPr id="1966147626" name="Rounded Rectangle 5"/>
          <p:cNvSpPr/>
          <p:nvPr/>
        </p:nvSpPr>
        <p:spPr bwMode="auto">
          <a:xfrm>
            <a:off x="411480" y="1371600"/>
            <a:ext cx="370332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9831635" name="TextBox 6"/>
          <p:cNvSpPr txBox="1"/>
          <p:nvPr/>
        </p:nvSpPr>
        <p:spPr bwMode="auto">
          <a:xfrm>
            <a:off x="576072" y="148132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Context diagram</a:t>
            </a:r>
            <a:endParaRPr/>
          </a:p>
        </p:txBody>
      </p:sp>
      <p:sp>
        <p:nvSpPr>
          <p:cNvPr id="859846472" name="TextBox 7"/>
          <p:cNvSpPr txBox="1"/>
          <p:nvPr/>
        </p:nvSpPr>
        <p:spPr bwMode="auto">
          <a:xfrm>
            <a:off x="576072" y="1828800"/>
            <a:ext cx="3377735" cy="204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The system as one process.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External entities: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• Student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• Guest user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• Counselor / Admin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• Email / SMTP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• AI / LLM service</a:t>
            </a:r>
            <a:endParaRPr/>
          </a:p>
        </p:txBody>
      </p:sp>
      <p:sp>
        <p:nvSpPr>
          <p:cNvPr id="572529647" name="Rounded Rectangle 8"/>
          <p:cNvSpPr/>
          <p:nvPr/>
        </p:nvSpPr>
        <p:spPr bwMode="auto">
          <a:xfrm>
            <a:off x="4251960" y="1371600"/>
            <a:ext cx="370332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826040" name="TextBox 9"/>
          <p:cNvSpPr txBox="1"/>
          <p:nvPr/>
        </p:nvSpPr>
        <p:spPr bwMode="auto">
          <a:xfrm>
            <a:off x="4416552" y="1481328"/>
            <a:ext cx="3374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Level 0 processes</a:t>
            </a:r>
            <a:endParaRPr/>
          </a:p>
        </p:txBody>
      </p:sp>
      <p:sp>
        <p:nvSpPr>
          <p:cNvPr id="1235948702" name="TextBox 10"/>
          <p:cNvSpPr txBox="1"/>
          <p:nvPr/>
        </p:nvSpPr>
        <p:spPr bwMode="auto">
          <a:xfrm>
            <a:off x="4416552" y="1828800"/>
            <a:ext cx="337413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1.0 Authenticate users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2.0 Manage conversations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3.0 Conduct assessments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4.0 Detect distress &amp; escalate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5.0 Track wellness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6.0 Appointments &amp; feedback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7.0 Counselor monitoring</a:t>
            </a:r>
            <a:endParaRPr/>
          </a:p>
        </p:txBody>
      </p:sp>
      <p:sp>
        <p:nvSpPr>
          <p:cNvPr id="349439175" name="Rounded Rectangle 11"/>
          <p:cNvSpPr/>
          <p:nvPr/>
        </p:nvSpPr>
        <p:spPr bwMode="auto">
          <a:xfrm>
            <a:off x="8092440" y="1371600"/>
            <a:ext cx="365760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6233135" name="TextBox 12"/>
          <p:cNvSpPr txBox="1"/>
          <p:nvPr/>
        </p:nvSpPr>
        <p:spPr bwMode="auto">
          <a:xfrm>
            <a:off x="8257031" y="1481328"/>
            <a:ext cx="33284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Level 1 of Process 1.0</a:t>
            </a:r>
            <a:endParaRPr/>
          </a:p>
        </p:txBody>
      </p:sp>
      <p:sp>
        <p:nvSpPr>
          <p:cNvPr id="173007062" name="TextBox 13"/>
          <p:cNvSpPr txBox="1"/>
          <p:nvPr/>
        </p:nvSpPr>
        <p:spPr bwMode="auto">
          <a:xfrm>
            <a:off x="8257031" y="1828800"/>
            <a:ext cx="332841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1.1 Register student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1.2 Authenticate login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1.3 Create guest session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1.4 Verify email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1.5 Reset password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1.6 Manage session tokens</a:t>
            </a:r>
            <a:endParaRPr/>
          </a:p>
        </p:txBody>
      </p:sp>
      <p:sp>
        <p:nvSpPr>
          <p:cNvPr id="8617872" name="Rectangle 1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147782" name="TextBox 15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305384455" name="TextBox 16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162721" name=""/>
          <p:cNvPicPr/>
          <p:nvPr/>
        </p:nvPicPr>
        <p:blipFill rotWithShape="1">
          <a:blip r:embed="rId3"/>
          <a:stretch/>
        </p:blipFill>
        <p:spPr bwMode="auto">
          <a:xfrm rot="0" flipH="0" flipV="0">
            <a:off x="714375" y="128220"/>
            <a:ext cx="10845721" cy="6978894"/>
          </a:xfrm>
          <a:prstGeom prst="rect">
            <a:avLst/>
          </a:prstGeom>
        </p:spPr>
      </p:pic>
      <p:sp>
        <p:nvSpPr>
          <p:cNvPr id="1953238431" name=""/>
          <p:cNvSpPr txBox="1"/>
          <p:nvPr/>
        </p:nvSpPr>
        <p:spPr bwMode="auto">
          <a:xfrm rot="0" flipH="0" flipV="0">
            <a:off x="1192498" y="503799"/>
            <a:ext cx="227206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Context Diagram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77120" name=""/>
          <p:cNvPicPr/>
          <p:nvPr/>
        </p:nvPicPr>
        <p:blipFill rotWithShape="1">
          <a:blip r:embed="rId3"/>
          <a:stretch/>
        </p:blipFill>
        <p:spPr bwMode="auto">
          <a:xfrm rot="0" flipH="0" flipV="0">
            <a:off x="588028" y="73269"/>
            <a:ext cx="10477499" cy="7043917"/>
          </a:xfrm>
          <a:prstGeom prst="rect">
            <a:avLst/>
          </a:prstGeom>
        </p:spPr>
      </p:pic>
      <p:sp>
        <p:nvSpPr>
          <p:cNvPr id="1099821403" name=""/>
          <p:cNvSpPr txBox="1"/>
          <p:nvPr/>
        </p:nvSpPr>
        <p:spPr bwMode="auto">
          <a:xfrm rot="0" flipH="0" flipV="0">
            <a:off x="1082595" y="531201"/>
            <a:ext cx="119208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Level 0 dfd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3248004" name=""/>
          <p:cNvPicPr/>
          <p:nvPr/>
        </p:nvPicPr>
        <p:blipFill rotWithShape="1">
          <a:blip r:embed="rId3"/>
          <a:stretch/>
        </p:blipFill>
        <p:spPr bwMode="auto">
          <a:xfrm rot="0" flipH="0" flipV="0">
            <a:off x="1650432" y="4268"/>
            <a:ext cx="8993797" cy="6849461"/>
          </a:xfrm>
          <a:prstGeom prst="rect">
            <a:avLst/>
          </a:prstGeom>
        </p:spPr>
      </p:pic>
      <p:sp>
        <p:nvSpPr>
          <p:cNvPr id="1337203670" name=""/>
          <p:cNvSpPr txBox="1"/>
          <p:nvPr/>
        </p:nvSpPr>
        <p:spPr bwMode="auto">
          <a:xfrm rot="0" flipH="0" flipV="0">
            <a:off x="368220" y="402980"/>
            <a:ext cx="119208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Level 1 dfd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00503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455561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6051983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0838092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System Design — Entity-Relationship Model</a:t>
            </a:r>
            <a:endParaRPr/>
          </a:p>
        </p:txBody>
      </p:sp>
      <p:sp>
        <p:nvSpPr>
          <p:cNvPr id="657574339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User is the central entity  •  PostgreSQL</a:t>
            </a:r>
            <a:endParaRPr/>
          </a:p>
        </p:txBody>
      </p:sp>
      <p:sp>
        <p:nvSpPr>
          <p:cNvPr id="1687509680" name="TextBox 6"/>
          <p:cNvSpPr txBox="1"/>
          <p:nvPr/>
        </p:nvSpPr>
        <p:spPr bwMode="auto">
          <a:xfrm>
            <a:off x="502920" y="137160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Entities: User, EmailToken, Assessment, ChatSession, ChatMessage, DistressResult, Escalation, Notification, MoodEntry, DailyCheckin, JournalEntry, Feedback, AppointmentRequest.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Typical cardinality: User 1:N most records; ChatSession 1:N ChatMessage; ChatMessage 1:1 DistressResult.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ERD guided SQLAlchemy models, Alembic migrations, PKs/FKs, and enum fields (role, severity, distress level).</a:t>
            </a:r>
            <a:endParaRPr/>
          </a:p>
        </p:txBody>
      </p:sp>
      <p:sp>
        <p:nvSpPr>
          <p:cNvPr id="166432441" name="Rounded Rectangle 7"/>
          <p:cNvSpPr/>
          <p:nvPr/>
        </p:nvSpPr>
        <p:spPr bwMode="auto">
          <a:xfrm>
            <a:off x="457200" y="3657600"/>
            <a:ext cx="3657600" cy="1051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1213528" name="TextBox 8"/>
          <p:cNvSpPr txBox="1"/>
          <p:nvPr/>
        </p:nvSpPr>
        <p:spPr bwMode="auto">
          <a:xfrm>
            <a:off x="640080" y="3977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User → Assessments</a:t>
            </a:r>
            <a:endParaRPr/>
          </a:p>
        </p:txBody>
      </p:sp>
      <p:sp>
        <p:nvSpPr>
          <p:cNvPr id="981709767" name="Rounded Rectangle 9"/>
          <p:cNvSpPr/>
          <p:nvPr/>
        </p:nvSpPr>
        <p:spPr bwMode="auto">
          <a:xfrm>
            <a:off x="4297680" y="3657600"/>
            <a:ext cx="3657600" cy="1051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4537035" name="TextBox 10"/>
          <p:cNvSpPr txBox="1"/>
          <p:nvPr/>
        </p:nvSpPr>
        <p:spPr bwMode="auto">
          <a:xfrm>
            <a:off x="4480560" y="3977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User → Chat sessions</a:t>
            </a:r>
            <a:endParaRPr/>
          </a:p>
        </p:txBody>
      </p:sp>
      <p:sp>
        <p:nvSpPr>
          <p:cNvPr id="1486461808" name="Rounded Rectangle 11"/>
          <p:cNvSpPr/>
          <p:nvPr/>
        </p:nvSpPr>
        <p:spPr bwMode="auto">
          <a:xfrm>
            <a:off x="8138160" y="3657600"/>
            <a:ext cx="3657600" cy="1051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4675746" name="TextBox 12"/>
          <p:cNvSpPr txBox="1"/>
          <p:nvPr/>
        </p:nvSpPr>
        <p:spPr bwMode="auto">
          <a:xfrm>
            <a:off x="8321039" y="3977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Session → Messages</a:t>
            </a:r>
            <a:endParaRPr/>
          </a:p>
        </p:txBody>
      </p:sp>
      <p:sp>
        <p:nvSpPr>
          <p:cNvPr id="1097116626" name="Rounded Rectangle 13"/>
          <p:cNvSpPr/>
          <p:nvPr/>
        </p:nvSpPr>
        <p:spPr bwMode="auto">
          <a:xfrm>
            <a:off x="457200" y="4892039"/>
            <a:ext cx="3657600" cy="1051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9316955" name="TextBox 14"/>
          <p:cNvSpPr txBox="1"/>
          <p:nvPr/>
        </p:nvSpPr>
        <p:spPr bwMode="auto">
          <a:xfrm>
            <a:off x="640080" y="521207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Message → Distress</a:t>
            </a:r>
            <a:endParaRPr/>
          </a:p>
        </p:txBody>
      </p:sp>
      <p:sp>
        <p:nvSpPr>
          <p:cNvPr id="457392156" name="Rounded Rectangle 15"/>
          <p:cNvSpPr/>
          <p:nvPr/>
        </p:nvSpPr>
        <p:spPr bwMode="auto">
          <a:xfrm>
            <a:off x="4297680" y="4892039"/>
            <a:ext cx="3657600" cy="1051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366388" name="TextBox 16"/>
          <p:cNvSpPr txBox="1"/>
          <p:nvPr/>
        </p:nvSpPr>
        <p:spPr bwMode="auto">
          <a:xfrm>
            <a:off x="4480560" y="521207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User → Escalations</a:t>
            </a:r>
            <a:endParaRPr/>
          </a:p>
        </p:txBody>
      </p:sp>
      <p:sp>
        <p:nvSpPr>
          <p:cNvPr id="602820342" name="Rounded Rectangle 17"/>
          <p:cNvSpPr/>
          <p:nvPr/>
        </p:nvSpPr>
        <p:spPr bwMode="auto">
          <a:xfrm>
            <a:off x="8138160" y="4892039"/>
            <a:ext cx="3657600" cy="1051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1191159" name="TextBox 18"/>
          <p:cNvSpPr txBox="1"/>
          <p:nvPr/>
        </p:nvSpPr>
        <p:spPr bwMode="auto">
          <a:xfrm>
            <a:off x="8321039" y="521207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User → Notifications</a:t>
            </a:r>
            <a:endParaRPr/>
          </a:p>
        </p:txBody>
      </p:sp>
      <p:sp>
        <p:nvSpPr>
          <p:cNvPr id="237664933" name="Rectangle 19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4132512" name="TextBox 20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690147931" name="TextBox 21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90602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6479882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569571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4928552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Architecture and Technology Stack</a:t>
            </a:r>
            <a:endParaRPr/>
          </a:p>
        </p:txBody>
      </p:sp>
      <p:sp>
        <p:nvSpPr>
          <p:cNvPr id="1318408788" name="Rounded Rectangle 5"/>
          <p:cNvSpPr/>
          <p:nvPr/>
        </p:nvSpPr>
        <p:spPr bwMode="auto">
          <a:xfrm>
            <a:off x="457200" y="1371600"/>
            <a:ext cx="2377440" cy="685800"/>
          </a:xfrm>
          <a:prstGeom prst="roundRect">
            <a:avLst>
              <a:gd name="adj" fmla="val 16667"/>
            </a:avLst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025522" name="TextBox 6"/>
          <p:cNvSpPr txBox="1"/>
          <p:nvPr/>
        </p:nvSpPr>
        <p:spPr bwMode="auto">
          <a:xfrm>
            <a:off x="594360" y="153619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Frontend</a:t>
            </a:r>
            <a:endParaRPr/>
          </a:p>
        </p:txBody>
      </p:sp>
      <p:sp>
        <p:nvSpPr>
          <p:cNvPr id="975320940" name="Rounded Rectangle 7"/>
          <p:cNvSpPr/>
          <p:nvPr/>
        </p:nvSpPr>
        <p:spPr bwMode="auto">
          <a:xfrm>
            <a:off x="3017519" y="1371600"/>
            <a:ext cx="86868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6306661" name="TextBox 8"/>
          <p:cNvSpPr txBox="1"/>
          <p:nvPr/>
        </p:nvSpPr>
        <p:spPr bwMode="auto">
          <a:xfrm>
            <a:off x="3200400" y="1536192"/>
            <a:ext cx="4343394" cy="335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React, Vite, TypeScript, Tailwind CSS, React Router</a:t>
            </a:r>
            <a:endParaRPr/>
          </a:p>
        </p:txBody>
      </p:sp>
      <p:sp>
        <p:nvSpPr>
          <p:cNvPr id="1895908610" name="Rounded Rectangle 9"/>
          <p:cNvSpPr/>
          <p:nvPr/>
        </p:nvSpPr>
        <p:spPr bwMode="auto">
          <a:xfrm>
            <a:off x="457200" y="2176272"/>
            <a:ext cx="2377440" cy="685800"/>
          </a:xfrm>
          <a:prstGeom prst="roundRect">
            <a:avLst>
              <a:gd name="adj" fmla="val 16667"/>
            </a:avLst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9632706" name="TextBox 10"/>
          <p:cNvSpPr txBox="1"/>
          <p:nvPr/>
        </p:nvSpPr>
        <p:spPr bwMode="auto">
          <a:xfrm>
            <a:off x="594360" y="2340864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Backend API</a:t>
            </a:r>
            <a:endParaRPr/>
          </a:p>
        </p:txBody>
      </p:sp>
      <p:sp>
        <p:nvSpPr>
          <p:cNvPr id="731429349" name="Rounded Rectangle 11"/>
          <p:cNvSpPr/>
          <p:nvPr/>
        </p:nvSpPr>
        <p:spPr bwMode="auto">
          <a:xfrm>
            <a:off x="3017519" y="2176272"/>
            <a:ext cx="86868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6567576" name="TextBox 12"/>
          <p:cNvSpPr txBox="1"/>
          <p:nvPr/>
        </p:nvSpPr>
        <p:spPr bwMode="auto">
          <a:xfrm>
            <a:off x="3200400" y="2340864"/>
            <a:ext cx="8321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Python FastAPI, Pydantic, JWT auth, role-based routes</a:t>
            </a:r>
            <a:endParaRPr/>
          </a:p>
        </p:txBody>
      </p:sp>
      <p:sp>
        <p:nvSpPr>
          <p:cNvPr id="1030528978" name="Rounded Rectangle 13"/>
          <p:cNvSpPr/>
          <p:nvPr/>
        </p:nvSpPr>
        <p:spPr bwMode="auto">
          <a:xfrm>
            <a:off x="457200" y="2980944"/>
            <a:ext cx="2377440" cy="685800"/>
          </a:xfrm>
          <a:prstGeom prst="roundRect">
            <a:avLst>
              <a:gd name="adj" fmla="val 16667"/>
            </a:avLst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0066859" name="TextBox 14"/>
          <p:cNvSpPr txBox="1"/>
          <p:nvPr/>
        </p:nvSpPr>
        <p:spPr bwMode="auto">
          <a:xfrm>
            <a:off x="594360" y="3145536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Database</a:t>
            </a:r>
            <a:endParaRPr/>
          </a:p>
        </p:txBody>
      </p:sp>
      <p:sp>
        <p:nvSpPr>
          <p:cNvPr id="728920262" name="Rounded Rectangle 15"/>
          <p:cNvSpPr/>
          <p:nvPr/>
        </p:nvSpPr>
        <p:spPr bwMode="auto">
          <a:xfrm>
            <a:off x="3017519" y="2980944"/>
            <a:ext cx="86868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9500617" name="TextBox 16"/>
          <p:cNvSpPr txBox="1"/>
          <p:nvPr/>
        </p:nvSpPr>
        <p:spPr bwMode="auto">
          <a:xfrm>
            <a:off x="3200400" y="3145536"/>
            <a:ext cx="8321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PostgreSQL 16  •  SQLAlchemy  •  Alembic migrations</a:t>
            </a:r>
            <a:endParaRPr/>
          </a:p>
        </p:txBody>
      </p:sp>
      <p:sp>
        <p:nvSpPr>
          <p:cNvPr id="1357772926" name="Rounded Rectangle 17"/>
          <p:cNvSpPr/>
          <p:nvPr/>
        </p:nvSpPr>
        <p:spPr bwMode="auto">
          <a:xfrm>
            <a:off x="457200" y="3785616"/>
            <a:ext cx="2377440" cy="685800"/>
          </a:xfrm>
          <a:prstGeom prst="roundRect">
            <a:avLst>
              <a:gd name="adj" fmla="val 16667"/>
            </a:avLst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996933" name="TextBox 18"/>
          <p:cNvSpPr txBox="1"/>
          <p:nvPr/>
        </p:nvSpPr>
        <p:spPr bwMode="auto">
          <a:xfrm>
            <a:off x="594360" y="395020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AI layer</a:t>
            </a:r>
            <a:endParaRPr/>
          </a:p>
        </p:txBody>
      </p:sp>
      <p:sp>
        <p:nvSpPr>
          <p:cNvPr id="1180491315" name="Rounded Rectangle 19"/>
          <p:cNvSpPr/>
          <p:nvPr/>
        </p:nvSpPr>
        <p:spPr bwMode="auto">
          <a:xfrm>
            <a:off x="3017519" y="3785616"/>
            <a:ext cx="86868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9424063" name="TextBox 20"/>
          <p:cNvSpPr txBox="1"/>
          <p:nvPr/>
        </p:nvSpPr>
        <p:spPr bwMode="auto">
          <a:xfrm>
            <a:off x="3200400" y="3950208"/>
            <a:ext cx="8321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Ollama (local LLM)  •  Hybrid rule + AI distress detection</a:t>
            </a:r>
            <a:endParaRPr/>
          </a:p>
        </p:txBody>
      </p:sp>
      <p:sp>
        <p:nvSpPr>
          <p:cNvPr id="980297888" name="Rounded Rectangle 21"/>
          <p:cNvSpPr/>
          <p:nvPr/>
        </p:nvSpPr>
        <p:spPr bwMode="auto">
          <a:xfrm>
            <a:off x="457200" y="4590288"/>
            <a:ext cx="2377440" cy="685800"/>
          </a:xfrm>
          <a:prstGeom prst="roundRect">
            <a:avLst>
              <a:gd name="adj" fmla="val 16667"/>
            </a:avLst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3287076" name="TextBox 22"/>
          <p:cNvSpPr txBox="1"/>
          <p:nvPr/>
        </p:nvSpPr>
        <p:spPr bwMode="auto">
          <a:xfrm>
            <a:off x="594360" y="475487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Email</a:t>
            </a:r>
            <a:endParaRPr/>
          </a:p>
        </p:txBody>
      </p:sp>
      <p:sp>
        <p:nvSpPr>
          <p:cNvPr id="1222806697" name="Rounded Rectangle 23"/>
          <p:cNvSpPr/>
          <p:nvPr/>
        </p:nvSpPr>
        <p:spPr bwMode="auto">
          <a:xfrm>
            <a:off x="3017519" y="4590288"/>
            <a:ext cx="86868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6642925" name="TextBox 24"/>
          <p:cNvSpPr txBox="1"/>
          <p:nvPr/>
        </p:nvSpPr>
        <p:spPr bwMode="auto">
          <a:xfrm>
            <a:off x="3200400" y="4754879"/>
            <a:ext cx="8321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SMTP / Mailhog (verification, reset, crisis alerts)</a:t>
            </a:r>
            <a:endParaRPr/>
          </a:p>
        </p:txBody>
      </p:sp>
      <p:sp>
        <p:nvSpPr>
          <p:cNvPr id="1630884051" name="Rounded Rectangle 25"/>
          <p:cNvSpPr/>
          <p:nvPr/>
        </p:nvSpPr>
        <p:spPr bwMode="auto">
          <a:xfrm>
            <a:off x="457200" y="5394960"/>
            <a:ext cx="2377440" cy="685800"/>
          </a:xfrm>
          <a:prstGeom prst="roundRect">
            <a:avLst>
              <a:gd name="adj" fmla="val 16667"/>
            </a:avLst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372850" name="TextBox 26"/>
          <p:cNvSpPr txBox="1"/>
          <p:nvPr/>
        </p:nvSpPr>
        <p:spPr bwMode="auto">
          <a:xfrm>
            <a:off x="594360" y="555955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DevOps</a:t>
            </a:r>
            <a:endParaRPr/>
          </a:p>
        </p:txBody>
      </p:sp>
      <p:sp>
        <p:nvSpPr>
          <p:cNvPr id="1717738756" name="Rounded Rectangle 27"/>
          <p:cNvSpPr/>
          <p:nvPr/>
        </p:nvSpPr>
        <p:spPr bwMode="auto">
          <a:xfrm>
            <a:off x="3017519" y="5394960"/>
            <a:ext cx="8686800" cy="6858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1171918" name="TextBox 28"/>
          <p:cNvSpPr txBox="1"/>
          <p:nvPr/>
        </p:nvSpPr>
        <p:spPr bwMode="auto">
          <a:xfrm>
            <a:off x="3200400" y="5559552"/>
            <a:ext cx="8321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Docker Compose, pytest, Swagger/OpenAPI, Git</a:t>
            </a:r>
            <a:endParaRPr/>
          </a:p>
        </p:txBody>
      </p:sp>
      <p:sp>
        <p:nvSpPr>
          <p:cNvPr id="1575359582" name="Rectangle 29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5762761" name="TextBox 30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162235659" name="TextBox 31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13326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282080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107697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657742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Implementation Process</a:t>
            </a:r>
            <a:endParaRPr/>
          </a:p>
        </p:txBody>
      </p:sp>
      <p:sp>
        <p:nvSpPr>
          <p:cNvPr id="253725135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Iterative, modular development</a:t>
            </a:r>
            <a:endParaRPr/>
          </a:p>
        </p:txBody>
      </p:sp>
      <p:sp>
        <p:nvSpPr>
          <p:cNvPr id="227156363" name="Rounded Rectangle 6"/>
          <p:cNvSpPr/>
          <p:nvPr/>
        </p:nvSpPr>
        <p:spPr bwMode="auto">
          <a:xfrm>
            <a:off x="365760" y="1417320"/>
            <a:ext cx="3749039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228997" name="Oval 7"/>
          <p:cNvSpPr/>
          <p:nvPr/>
        </p:nvSpPr>
        <p:spPr bwMode="auto">
          <a:xfrm>
            <a:off x="594360" y="1691640"/>
            <a:ext cx="502920" cy="50292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198995" name="TextBox 8"/>
          <p:cNvSpPr txBox="1"/>
          <p:nvPr/>
        </p:nvSpPr>
        <p:spPr bwMode="auto">
          <a:xfrm>
            <a:off x="594360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49422196" name="TextBox 9"/>
          <p:cNvSpPr txBox="1"/>
          <p:nvPr/>
        </p:nvSpPr>
        <p:spPr bwMode="auto">
          <a:xfrm>
            <a:off x="1234440" y="17373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Requirements &amp; design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DFDs, ERD, architecture</a:t>
            </a:r>
            <a:endParaRPr/>
          </a:p>
        </p:txBody>
      </p:sp>
      <p:sp>
        <p:nvSpPr>
          <p:cNvPr id="409977708" name="Rounded Rectangle 10"/>
          <p:cNvSpPr/>
          <p:nvPr/>
        </p:nvSpPr>
        <p:spPr bwMode="auto">
          <a:xfrm>
            <a:off x="4251960" y="1417320"/>
            <a:ext cx="3749039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910694" name="Oval 11"/>
          <p:cNvSpPr/>
          <p:nvPr/>
        </p:nvSpPr>
        <p:spPr bwMode="auto">
          <a:xfrm>
            <a:off x="4480560" y="1691640"/>
            <a:ext cx="502920" cy="50292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7134769" name="TextBox 12"/>
          <p:cNvSpPr txBox="1"/>
          <p:nvPr/>
        </p:nvSpPr>
        <p:spPr bwMode="auto">
          <a:xfrm>
            <a:off x="4480560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882100859" name="TextBox 13"/>
          <p:cNvSpPr txBox="1"/>
          <p:nvPr/>
        </p:nvSpPr>
        <p:spPr bwMode="auto">
          <a:xfrm>
            <a:off x="5120640" y="17373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Foundation setup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React, FastAPI, Postgres, Docker</a:t>
            </a:r>
            <a:endParaRPr/>
          </a:p>
        </p:txBody>
      </p:sp>
      <p:sp>
        <p:nvSpPr>
          <p:cNvPr id="1334537746" name="Rounded Rectangle 14"/>
          <p:cNvSpPr/>
          <p:nvPr/>
        </p:nvSpPr>
        <p:spPr bwMode="auto">
          <a:xfrm>
            <a:off x="8138160" y="1417320"/>
            <a:ext cx="3749039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2896059" name="Oval 15"/>
          <p:cNvSpPr/>
          <p:nvPr/>
        </p:nvSpPr>
        <p:spPr bwMode="auto">
          <a:xfrm>
            <a:off x="8366760" y="1691640"/>
            <a:ext cx="502920" cy="50292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9714596" name="TextBox 16"/>
          <p:cNvSpPr txBox="1"/>
          <p:nvPr/>
        </p:nvSpPr>
        <p:spPr bwMode="auto">
          <a:xfrm>
            <a:off x="8366760" y="17647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865241558" name="TextBox 17"/>
          <p:cNvSpPr txBox="1"/>
          <p:nvPr/>
        </p:nvSpPr>
        <p:spPr bwMode="auto">
          <a:xfrm>
            <a:off x="9006840" y="17373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Database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Models + Alembic migrations</a:t>
            </a:r>
            <a:endParaRPr/>
          </a:p>
        </p:txBody>
      </p:sp>
      <p:sp>
        <p:nvSpPr>
          <p:cNvPr id="1177320560" name="Rounded Rectangle 18"/>
          <p:cNvSpPr/>
          <p:nvPr/>
        </p:nvSpPr>
        <p:spPr bwMode="auto">
          <a:xfrm>
            <a:off x="365760" y="3840480"/>
            <a:ext cx="3749039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9029767" name="Oval 19"/>
          <p:cNvSpPr/>
          <p:nvPr/>
        </p:nvSpPr>
        <p:spPr bwMode="auto">
          <a:xfrm>
            <a:off x="594360" y="4114800"/>
            <a:ext cx="502920" cy="50292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9550475" name="TextBox 20"/>
          <p:cNvSpPr txBox="1"/>
          <p:nvPr/>
        </p:nvSpPr>
        <p:spPr bwMode="auto">
          <a:xfrm>
            <a:off x="594360" y="41879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569953474" name="TextBox 21"/>
          <p:cNvSpPr txBox="1"/>
          <p:nvPr/>
        </p:nvSpPr>
        <p:spPr bwMode="auto">
          <a:xfrm>
            <a:off x="1234440" y="4160519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Core modules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Auth → assess → chat → escalate</a:t>
            </a:r>
            <a:endParaRPr/>
          </a:p>
        </p:txBody>
      </p:sp>
      <p:sp>
        <p:nvSpPr>
          <p:cNvPr id="37970959" name="Rounded Rectangle 22"/>
          <p:cNvSpPr/>
          <p:nvPr/>
        </p:nvSpPr>
        <p:spPr bwMode="auto">
          <a:xfrm>
            <a:off x="4251960" y="3840480"/>
            <a:ext cx="3749039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5845814" name="Oval 23"/>
          <p:cNvSpPr/>
          <p:nvPr/>
        </p:nvSpPr>
        <p:spPr bwMode="auto">
          <a:xfrm>
            <a:off x="4480560" y="4114800"/>
            <a:ext cx="502920" cy="50292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6462021" name="TextBox 24"/>
          <p:cNvSpPr txBox="1"/>
          <p:nvPr/>
        </p:nvSpPr>
        <p:spPr bwMode="auto">
          <a:xfrm>
            <a:off x="4480560" y="41879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1184230208" name="TextBox 25"/>
          <p:cNvSpPr txBox="1"/>
          <p:nvPr/>
        </p:nvSpPr>
        <p:spPr bwMode="auto">
          <a:xfrm>
            <a:off x="5120640" y="4160519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Integration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APIs, JWT, role-based UI</a:t>
            </a:r>
            <a:endParaRPr/>
          </a:p>
        </p:txBody>
      </p:sp>
      <p:sp>
        <p:nvSpPr>
          <p:cNvPr id="1361629025" name="Rounded Rectangle 26"/>
          <p:cNvSpPr/>
          <p:nvPr/>
        </p:nvSpPr>
        <p:spPr bwMode="auto">
          <a:xfrm>
            <a:off x="8138160" y="3840480"/>
            <a:ext cx="3749039" cy="219456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617673" name="Oval 27"/>
          <p:cNvSpPr/>
          <p:nvPr/>
        </p:nvSpPr>
        <p:spPr bwMode="auto">
          <a:xfrm>
            <a:off x="8366760" y="4114800"/>
            <a:ext cx="502920" cy="50292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8460675" name="TextBox 28"/>
          <p:cNvSpPr txBox="1"/>
          <p:nvPr/>
        </p:nvSpPr>
        <p:spPr bwMode="auto">
          <a:xfrm>
            <a:off x="8366760" y="418795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1134728369" name="TextBox 29"/>
          <p:cNvSpPr txBox="1"/>
          <p:nvPr/>
        </p:nvSpPr>
        <p:spPr bwMode="auto">
          <a:xfrm>
            <a:off x="9006840" y="4160519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Test &amp; refine</a:t>
            </a:r>
            <a:br>
              <a:rPr sz="1600" b="0">
                <a:solidFill>
                  <a:srgbClr val="1F2A28"/>
                </a:solidFill>
                <a:latin typeface="Calibri"/>
              </a:rPr>
            </a:br>
            <a:r>
              <a:rPr sz="1600" b="0">
                <a:solidFill>
                  <a:srgbClr val="1F2A28"/>
                </a:solidFill>
                <a:latin typeface="Calibri"/>
              </a:rPr>
              <a:t>pytest, Swagger, browser tests</a:t>
            </a:r>
            <a:endParaRPr/>
          </a:p>
        </p:txBody>
      </p:sp>
      <p:sp>
        <p:nvSpPr>
          <p:cNvPr id="1657727334" name="Rectangle 30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9066960" name="TextBox 31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910963908" name="TextBox 32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19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2448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782932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2794518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7196735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Key System Features</a:t>
            </a:r>
            <a:endParaRPr/>
          </a:p>
        </p:txBody>
      </p:sp>
      <p:sp>
        <p:nvSpPr>
          <p:cNvPr id="1268455754" name="Rounded Rectangle 5"/>
          <p:cNvSpPr/>
          <p:nvPr/>
        </p:nvSpPr>
        <p:spPr bwMode="auto">
          <a:xfrm>
            <a:off x="365760" y="137160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3221410" name="TextBox 6"/>
          <p:cNvSpPr txBox="1"/>
          <p:nvPr/>
        </p:nvSpPr>
        <p:spPr bwMode="auto">
          <a:xfrm>
            <a:off x="5303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1B6B4A"/>
                </a:solidFill>
                <a:latin typeface="Calibri"/>
              </a:rPr>
              <a:t>Authentication</a:t>
            </a:r>
            <a:endParaRPr/>
          </a:p>
        </p:txBody>
      </p:sp>
      <p:sp>
        <p:nvSpPr>
          <p:cNvPr id="459721564" name="TextBox 7"/>
          <p:cNvSpPr txBox="1"/>
          <p:nvPr/>
        </p:nvSpPr>
        <p:spPr bwMode="auto">
          <a:xfrm>
            <a:off x="530352" y="1828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Register, login, guest, email verify, password reset, JWT roles.</a:t>
            </a:r>
            <a:endParaRPr/>
          </a:p>
        </p:txBody>
      </p:sp>
      <p:sp>
        <p:nvSpPr>
          <p:cNvPr id="1862749100" name="Rounded Rectangle 8"/>
          <p:cNvSpPr/>
          <p:nvPr/>
        </p:nvSpPr>
        <p:spPr bwMode="auto">
          <a:xfrm>
            <a:off x="4251960" y="137160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5113464" name="TextBox 9"/>
          <p:cNvSpPr txBox="1"/>
          <p:nvPr/>
        </p:nvSpPr>
        <p:spPr bwMode="auto">
          <a:xfrm>
            <a:off x="44165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1B6B4A"/>
                </a:solidFill>
                <a:latin typeface="Calibri"/>
              </a:rPr>
              <a:t>Screening tools</a:t>
            </a:r>
            <a:endParaRPr/>
          </a:p>
        </p:txBody>
      </p:sp>
      <p:sp>
        <p:nvSpPr>
          <p:cNvPr id="10931952" name="TextBox 10"/>
          <p:cNvSpPr txBox="1"/>
          <p:nvPr/>
        </p:nvSpPr>
        <p:spPr bwMode="auto">
          <a:xfrm>
            <a:off x="4416552" y="1828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PHQ-9, GAD-7, PSS-10 with scoring and severity bands.</a:t>
            </a:r>
            <a:endParaRPr/>
          </a:p>
        </p:txBody>
      </p:sp>
      <p:sp>
        <p:nvSpPr>
          <p:cNvPr id="790100823" name="Rounded Rectangle 11"/>
          <p:cNvSpPr/>
          <p:nvPr/>
        </p:nvSpPr>
        <p:spPr bwMode="auto">
          <a:xfrm>
            <a:off x="8138160" y="137160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3658083" name="TextBox 12"/>
          <p:cNvSpPr txBox="1"/>
          <p:nvPr/>
        </p:nvSpPr>
        <p:spPr bwMode="auto">
          <a:xfrm>
            <a:off x="8302752" y="148132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1B6B4A"/>
                </a:solidFill>
                <a:latin typeface="Calibri"/>
              </a:rPr>
              <a:t>CBT-informed chat</a:t>
            </a:r>
            <a:endParaRPr/>
          </a:p>
        </p:txBody>
      </p:sp>
      <p:sp>
        <p:nvSpPr>
          <p:cNvPr id="221065443" name="TextBox 13"/>
          <p:cNvSpPr txBox="1"/>
          <p:nvPr/>
        </p:nvSpPr>
        <p:spPr bwMode="auto">
          <a:xfrm>
            <a:off x="8302752" y="1828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Supportive AI replies; no diagnosis; safety disclaimers.</a:t>
            </a:r>
            <a:endParaRPr/>
          </a:p>
        </p:txBody>
      </p:sp>
      <p:sp>
        <p:nvSpPr>
          <p:cNvPr id="1669077786" name="Rounded Rectangle 14"/>
          <p:cNvSpPr/>
          <p:nvPr/>
        </p:nvSpPr>
        <p:spPr bwMode="auto">
          <a:xfrm>
            <a:off x="365760" y="384048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8395584" name="TextBox 15"/>
          <p:cNvSpPr txBox="1"/>
          <p:nvPr/>
        </p:nvSpPr>
        <p:spPr bwMode="auto">
          <a:xfrm>
            <a:off x="530352" y="395020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1B6B4A"/>
                </a:solidFill>
                <a:latin typeface="Calibri"/>
              </a:rPr>
              <a:t>Hybrid distress</a:t>
            </a:r>
            <a:endParaRPr/>
          </a:p>
        </p:txBody>
      </p:sp>
      <p:sp>
        <p:nvSpPr>
          <p:cNvPr id="1013350261" name="TextBox 16"/>
          <p:cNvSpPr txBox="1"/>
          <p:nvPr/>
        </p:nvSpPr>
        <p:spPr bwMode="auto">
          <a:xfrm>
            <a:off x="530352" y="42976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Rules + AI; crisis not downgraded; snapshot stored.</a:t>
            </a:r>
            <a:endParaRPr/>
          </a:p>
        </p:txBody>
      </p:sp>
      <p:sp>
        <p:nvSpPr>
          <p:cNvPr id="569504685" name="Rounded Rectangle 17"/>
          <p:cNvSpPr/>
          <p:nvPr/>
        </p:nvSpPr>
        <p:spPr bwMode="auto">
          <a:xfrm>
            <a:off x="4251960" y="384048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6060699" name="TextBox 18"/>
          <p:cNvSpPr txBox="1"/>
          <p:nvPr/>
        </p:nvSpPr>
        <p:spPr bwMode="auto">
          <a:xfrm>
            <a:off x="4416552" y="395020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1B6B4A"/>
                </a:solidFill>
                <a:latin typeface="Calibri"/>
              </a:rPr>
              <a:t>Escalation</a:t>
            </a:r>
            <a:endParaRPr/>
          </a:p>
        </p:txBody>
      </p:sp>
      <p:sp>
        <p:nvSpPr>
          <p:cNvPr id="1212209427" name="TextBox 19"/>
          <p:cNvSpPr txBox="1"/>
          <p:nvPr/>
        </p:nvSpPr>
        <p:spPr bwMode="auto">
          <a:xfrm>
            <a:off x="4416552" y="42976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In-app + email alerts; counselor acknowledge/resolve.</a:t>
            </a:r>
            <a:endParaRPr/>
          </a:p>
        </p:txBody>
      </p:sp>
      <p:sp>
        <p:nvSpPr>
          <p:cNvPr id="831879248" name="Rounded Rectangle 20"/>
          <p:cNvSpPr/>
          <p:nvPr/>
        </p:nvSpPr>
        <p:spPr bwMode="auto">
          <a:xfrm>
            <a:off x="8138160" y="3840480"/>
            <a:ext cx="3749039" cy="22860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6745013" name="TextBox 21"/>
          <p:cNvSpPr txBox="1"/>
          <p:nvPr/>
        </p:nvSpPr>
        <p:spPr bwMode="auto">
          <a:xfrm>
            <a:off x="8302752" y="3950208"/>
            <a:ext cx="3419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1B6B4A"/>
                </a:solidFill>
                <a:latin typeface="Calibri"/>
              </a:rPr>
              <a:t>Counselor workspace</a:t>
            </a:r>
            <a:endParaRPr/>
          </a:p>
        </p:txBody>
      </p:sp>
      <p:sp>
        <p:nvSpPr>
          <p:cNvPr id="1181213706" name="TextBox 22"/>
          <p:cNvSpPr txBox="1"/>
          <p:nvPr/>
        </p:nvSpPr>
        <p:spPr bwMode="auto">
          <a:xfrm>
            <a:off x="8302752" y="42976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Dashboard, caseload, appointments, feedback.</a:t>
            </a:r>
            <a:endParaRPr/>
          </a:p>
        </p:txBody>
      </p:sp>
      <p:sp>
        <p:nvSpPr>
          <p:cNvPr id="1831827195" name="Rectangle 23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1076561" name="TextBox 24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250749614" name="TextBox 25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828083" name="Rectangle 1"/>
          <p:cNvSpPr/>
          <p:nvPr/>
        </p:nvSpPr>
        <p:spPr bwMode="auto">
          <a:xfrm>
            <a:off x="-15086" y="-182879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4772764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9748706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5461645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Implemented Interfaces</a:t>
            </a:r>
            <a:endParaRPr/>
          </a:p>
        </p:txBody>
      </p:sp>
      <p:sp>
        <p:nvSpPr>
          <p:cNvPr id="1841144989" name="TextBox 5"/>
          <p:cNvSpPr txBox="1"/>
          <p:nvPr/>
        </p:nvSpPr>
        <p:spPr bwMode="auto"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300" b="0">
                <a:solidFill>
                  <a:srgbClr val="C4A35A"/>
                </a:solidFill>
                <a:latin typeface="Calibri"/>
              </a:rPr>
              <a:t>Selected screens from the working system</a:t>
            </a:r>
            <a:endParaRPr/>
          </a:p>
        </p:txBody>
      </p:sp>
      <p:pic>
        <p:nvPicPr>
          <p:cNvPr id="459272562" name="Picture 6" descr="kyu-impl-01-hom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0040" y="4158028"/>
            <a:ext cx="3693325" cy="1511250"/>
          </a:xfrm>
          <a:prstGeom prst="rect">
            <a:avLst/>
          </a:prstGeom>
        </p:spPr>
      </p:pic>
      <p:sp>
        <p:nvSpPr>
          <p:cNvPr id="1839186505" name="TextBox 7"/>
          <p:cNvSpPr txBox="1"/>
          <p:nvPr/>
        </p:nvSpPr>
        <p:spPr bwMode="auto">
          <a:xfrm>
            <a:off x="749382" y="57150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1B6B4A"/>
                </a:solidFill>
                <a:latin typeface="Calibri"/>
              </a:rPr>
              <a:t>Landing page</a:t>
            </a:r>
            <a:endParaRPr/>
          </a:p>
        </p:txBody>
      </p:sp>
      <p:pic>
        <p:nvPicPr>
          <p:cNvPr id="443531883" name="Picture 8" descr="kyu-impl-04-student-dashboar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5855" y="1585692"/>
            <a:ext cx="3757509" cy="1934747"/>
          </a:xfrm>
          <a:prstGeom prst="rect">
            <a:avLst/>
          </a:prstGeom>
        </p:spPr>
      </p:pic>
      <p:sp>
        <p:nvSpPr>
          <p:cNvPr id="1314015924" name="TextBox 9"/>
          <p:cNvSpPr txBox="1"/>
          <p:nvPr/>
        </p:nvSpPr>
        <p:spPr bwMode="auto">
          <a:xfrm>
            <a:off x="819003" y="35204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1B6B4A"/>
                </a:solidFill>
                <a:latin typeface="Calibri"/>
              </a:rPr>
              <a:t>Student dashboard</a:t>
            </a:r>
            <a:endParaRPr/>
          </a:p>
        </p:txBody>
      </p:sp>
      <p:pic>
        <p:nvPicPr>
          <p:cNvPr id="66285612" name="Picture 10" descr="kyu-impl-05-chat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739889" y="1152144"/>
            <a:ext cx="2834639" cy="1804327"/>
          </a:xfrm>
          <a:prstGeom prst="rect">
            <a:avLst/>
          </a:prstGeom>
        </p:spPr>
      </p:pic>
      <p:sp>
        <p:nvSpPr>
          <p:cNvPr id="566119931" name="TextBox 11"/>
          <p:cNvSpPr txBox="1"/>
          <p:nvPr/>
        </p:nvSpPr>
        <p:spPr bwMode="auto">
          <a:xfrm>
            <a:off x="6638924" y="306324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1B6B4A"/>
                </a:solidFill>
                <a:latin typeface="Calibri"/>
              </a:rPr>
              <a:t>AI chat</a:t>
            </a:r>
            <a:endParaRPr/>
          </a:p>
        </p:txBody>
      </p:sp>
      <p:pic>
        <p:nvPicPr>
          <p:cNvPr id="54659112" name="Picture 12" descr="kyu-impl-03-counselor-dashboar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638924" y="3318949"/>
            <a:ext cx="2834639" cy="1914231"/>
          </a:xfrm>
          <a:prstGeom prst="rect">
            <a:avLst/>
          </a:prstGeom>
        </p:spPr>
      </p:pic>
      <p:sp>
        <p:nvSpPr>
          <p:cNvPr id="737276329" name="TextBox 13"/>
          <p:cNvSpPr txBox="1"/>
          <p:nvPr/>
        </p:nvSpPr>
        <p:spPr bwMode="auto">
          <a:xfrm>
            <a:off x="6638924" y="558677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1B6B4A"/>
                </a:solidFill>
                <a:latin typeface="Calibri"/>
              </a:rPr>
              <a:t>Counselor dashboard</a:t>
            </a:r>
            <a:endParaRPr/>
          </a:p>
        </p:txBody>
      </p:sp>
      <p:sp>
        <p:nvSpPr>
          <p:cNvPr id="1075151553" name="Rectangle 14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5542605" name="TextBox 15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2119389254" name="TextBox 16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66761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5587148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2175887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5594739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Testing and Validation</a:t>
            </a:r>
            <a:endParaRPr/>
          </a:p>
        </p:txBody>
      </p:sp>
      <p:sp>
        <p:nvSpPr>
          <p:cNvPr id="916437600" name="Rounded Rectangle 5"/>
          <p:cNvSpPr/>
          <p:nvPr/>
        </p:nvSpPr>
        <p:spPr bwMode="auto">
          <a:xfrm>
            <a:off x="365760" y="137160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3772703" name="TextBox 6"/>
          <p:cNvSpPr txBox="1"/>
          <p:nvPr/>
        </p:nvSpPr>
        <p:spPr bwMode="auto">
          <a:xfrm>
            <a:off x="530352" y="148132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Unit testing (pytest)</a:t>
            </a:r>
            <a:endParaRPr/>
          </a:p>
        </p:txBody>
      </p:sp>
      <p:sp>
        <p:nvSpPr>
          <p:cNvPr id="676209646" name="TextBox 7"/>
          <p:cNvSpPr txBox="1"/>
          <p:nvPr/>
        </p:nvSpPr>
        <p:spPr bwMode="auto">
          <a:xfrm>
            <a:off x="530352" y="182880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Hashing, JWT, PHQ-9/GAD-7/PSS-10 scoring, distress rules, schema validation.</a:t>
            </a:r>
            <a:endParaRPr/>
          </a:p>
        </p:txBody>
      </p:sp>
      <p:sp>
        <p:nvSpPr>
          <p:cNvPr id="657256171" name="Rounded Rectangle 8"/>
          <p:cNvSpPr/>
          <p:nvPr/>
        </p:nvSpPr>
        <p:spPr bwMode="auto">
          <a:xfrm>
            <a:off x="6172200" y="137160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901235" name="TextBox 9"/>
          <p:cNvSpPr txBox="1"/>
          <p:nvPr/>
        </p:nvSpPr>
        <p:spPr bwMode="auto">
          <a:xfrm>
            <a:off x="6336792" y="148132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Integration &amp; system testing</a:t>
            </a:r>
            <a:endParaRPr/>
          </a:p>
        </p:txBody>
      </p:sp>
      <p:sp>
        <p:nvSpPr>
          <p:cNvPr id="643358430" name="TextBox 10"/>
          <p:cNvSpPr txBox="1"/>
          <p:nvPr/>
        </p:nvSpPr>
        <p:spPr bwMode="auto">
          <a:xfrm>
            <a:off x="6336792" y="182880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Docker stack: React + FastAPI + Postgres + Mailhog + AI. Swagger and end-to-end workflows.</a:t>
            </a:r>
            <a:endParaRPr/>
          </a:p>
        </p:txBody>
      </p:sp>
      <p:sp>
        <p:nvSpPr>
          <p:cNvPr id="611739850" name="Rounded Rectangle 11"/>
          <p:cNvSpPr/>
          <p:nvPr/>
        </p:nvSpPr>
        <p:spPr bwMode="auto">
          <a:xfrm>
            <a:off x="365760" y="384048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6942958" name="TextBox 12"/>
          <p:cNvSpPr txBox="1"/>
          <p:nvPr/>
        </p:nvSpPr>
        <p:spPr bwMode="auto">
          <a:xfrm>
            <a:off x="530352" y="395020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User acceptance testing</a:t>
            </a:r>
            <a:endParaRPr/>
          </a:p>
        </p:txBody>
      </p:sp>
      <p:sp>
        <p:nvSpPr>
          <p:cNvPr id="1505734606" name="TextBox 13"/>
          <p:cNvSpPr txBox="1"/>
          <p:nvPr/>
        </p:nvSpPr>
        <p:spPr bwMode="auto">
          <a:xfrm>
            <a:off x="530352" y="429768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Student: register → assess → chat → mood → journal → appointment.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Counselor: alerts, caseload, escalations.</a:t>
            </a:r>
            <a:endParaRPr/>
          </a:p>
        </p:txBody>
      </p:sp>
      <p:sp>
        <p:nvSpPr>
          <p:cNvPr id="94450566" name="Rounded Rectangle 14"/>
          <p:cNvSpPr/>
          <p:nvPr/>
        </p:nvSpPr>
        <p:spPr bwMode="auto">
          <a:xfrm>
            <a:off x="6172200" y="3840480"/>
            <a:ext cx="5623560" cy="23317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0688958" name="TextBox 15"/>
          <p:cNvSpPr txBox="1"/>
          <p:nvPr/>
        </p:nvSpPr>
        <p:spPr bwMode="auto">
          <a:xfrm>
            <a:off x="6336792" y="3950208"/>
            <a:ext cx="5294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Validation</a:t>
            </a:r>
            <a:endParaRPr/>
          </a:p>
        </p:txBody>
      </p:sp>
      <p:sp>
        <p:nvSpPr>
          <p:cNvPr id="1052035088" name="TextBox 16"/>
          <p:cNvSpPr txBox="1"/>
          <p:nvPr/>
        </p:nvSpPr>
        <p:spPr bwMode="auto">
          <a:xfrm>
            <a:off x="6336792" y="4297680"/>
            <a:ext cx="5294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Checked against user requirements; data/security validation; rejected invalid input; blocked unauthorized access. Pilot in a controlled KyU development environment.</a:t>
            </a:r>
            <a:endParaRPr/>
          </a:p>
        </p:txBody>
      </p:sp>
      <p:sp>
        <p:nvSpPr>
          <p:cNvPr id="1326807485" name="Rectangle 17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9764946" name="TextBox 18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39932652" name="TextBox 19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04804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5282846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9930688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8297839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Discussion of Findings</a:t>
            </a:r>
            <a:endParaRPr/>
          </a:p>
        </p:txBody>
      </p:sp>
      <p:sp>
        <p:nvSpPr>
          <p:cNvPr id="1693668602" name="TextBox 5"/>
          <p:cNvSpPr txBox="1"/>
          <p:nvPr/>
        </p:nvSpPr>
        <p:spPr bwMode="auto"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Survey data (n = 79) confirmed high perceived stress and substantial moderate-plus depression/anxiety among KyU students.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Students want anonymous, private AI support but still expect a path to human counselors — matching guest access plus escalation.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The platform complements — does not replace — the Guidance and Counselling Unit.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PHQ-9, GAD-7 and PSS-10 provide screening and counselor signals, not diagnoses.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Hybrid distress detection plus escalation is the main technical contribution.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700" b="0">
                <a:solidFill>
                  <a:srgbClr val="1F2A28"/>
                </a:solidFill>
                <a:latin typeface="Calibri"/>
              </a:rPr>
              <a:t>•  Core workflows (auth, scoring, chat, escalation, wellness) were confirmed through testing and validation.</a:t>
            </a:r>
            <a:endParaRPr/>
          </a:p>
        </p:txBody>
      </p:sp>
      <p:sp>
        <p:nvSpPr>
          <p:cNvPr id="1280493287" name="Rectangle 6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2649277" name="TextBox 7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005313805" name="TextBox 8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50991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0695718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7200409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8780822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Recommendations and Limitations</a:t>
            </a:r>
            <a:endParaRPr/>
          </a:p>
        </p:txBody>
      </p:sp>
      <p:sp>
        <p:nvSpPr>
          <p:cNvPr id="185096349" name="Rounded Rectangle 5"/>
          <p:cNvSpPr/>
          <p:nvPr/>
        </p:nvSpPr>
        <p:spPr bwMode="auto">
          <a:xfrm>
            <a:off x="365760" y="1371600"/>
            <a:ext cx="566928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5997150" name="TextBox 6"/>
          <p:cNvSpPr txBox="1"/>
          <p:nvPr/>
        </p:nvSpPr>
        <p:spPr bwMode="auto">
          <a:xfrm>
            <a:off x="530352" y="1481328"/>
            <a:ext cx="5340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Recommendations</a:t>
            </a:r>
            <a:endParaRPr/>
          </a:p>
        </p:txBody>
      </p:sp>
      <p:sp>
        <p:nvSpPr>
          <p:cNvPr id="1457834143" name="TextBox 7"/>
          <p:cNvSpPr txBox="1"/>
          <p:nvPr/>
        </p:nvSpPr>
        <p:spPr bwMode="auto">
          <a:xfrm>
            <a:off x="530352" y="1828800"/>
            <a:ext cx="534009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• Train counseling staff on the dashboard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Stronger privacy and data-retention policy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Defined crisis response times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Promote the platform to students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Review AI prompts and distress rules with counselors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Improve mobile and kiosk access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Expand local-language support</a:t>
            </a:r>
            <a:endParaRPr/>
          </a:p>
        </p:txBody>
      </p:sp>
      <p:sp>
        <p:nvSpPr>
          <p:cNvPr id="1212333475" name="Rounded Rectangle 8"/>
          <p:cNvSpPr/>
          <p:nvPr/>
        </p:nvSpPr>
        <p:spPr bwMode="auto">
          <a:xfrm>
            <a:off x="6217920" y="1371600"/>
            <a:ext cx="5577840" cy="48463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455507" name="TextBox 9"/>
          <p:cNvSpPr txBox="1"/>
          <p:nvPr/>
        </p:nvSpPr>
        <p:spPr bwMode="auto">
          <a:xfrm>
            <a:off x="6382512" y="1481328"/>
            <a:ext cx="524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Limitations</a:t>
            </a:r>
            <a:endParaRPr/>
          </a:p>
        </p:txBody>
      </p:sp>
      <p:sp>
        <p:nvSpPr>
          <p:cNvPr id="1656152947" name="TextBox 10"/>
          <p:cNvSpPr txBox="1"/>
          <p:nvPr/>
        </p:nvSpPr>
        <p:spPr bwMode="auto">
          <a:xfrm>
            <a:off x="6382512" y="1828800"/>
            <a:ext cx="5248655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 b="0">
                <a:solidFill>
                  <a:srgbClr val="1F2A28"/>
                </a:solidFill>
                <a:latin typeface="Calibri"/>
              </a:rPr>
              <a:t>• Not a clinical diagnostic or therapy system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LLM quality and speed vary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Testing mainly in a controlled environment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Survey convenience sample, SCIS over-represented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Needs internet and server uptime</a:t>
            </a:r>
            <a:br>
              <a:rPr sz="1500" b="0">
                <a:solidFill>
                  <a:srgbClr val="1F2A28"/>
                </a:solidFill>
                <a:latin typeface="Calibri"/>
              </a:rPr>
            </a:br>
            <a:r>
              <a:rPr sz="1500" b="0">
                <a:solidFill>
                  <a:srgbClr val="1F2A28"/>
                </a:solidFill>
                <a:latin typeface="Calibri"/>
              </a:rPr>
              <a:t>• Escalation still depends on counselor availability</a:t>
            </a:r>
            <a:endParaRPr/>
          </a:p>
        </p:txBody>
      </p:sp>
      <p:sp>
        <p:nvSpPr>
          <p:cNvPr id="1614867226" name="Rectangle 11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7019992" name="TextBox 12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510416965" name="TextBox 13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69348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456328" name="Rectangle 2"/>
          <p:cNvSpPr/>
          <p:nvPr/>
        </p:nvSpPr>
        <p:spPr bwMode="auto">
          <a:xfrm>
            <a:off x="0" y="0"/>
            <a:ext cx="12191695" cy="1078992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883766" name="Rectangle 3"/>
          <p:cNvSpPr/>
          <p:nvPr/>
        </p:nvSpPr>
        <p:spPr bwMode="auto">
          <a:xfrm>
            <a:off x="0" y="1078992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393920" name="TextBox 4"/>
          <p:cNvSpPr txBox="1"/>
          <p:nvPr/>
        </p:nvSpPr>
        <p:spPr bwMode="auto"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Calibri"/>
              </a:rPr>
              <a:t>Further Research and Conclusion</a:t>
            </a:r>
            <a:endParaRPr/>
          </a:p>
        </p:txBody>
      </p:sp>
      <p:sp>
        <p:nvSpPr>
          <p:cNvPr id="2119674174" name="Rounded Rectangle 5"/>
          <p:cNvSpPr/>
          <p:nvPr/>
        </p:nvSpPr>
        <p:spPr bwMode="auto">
          <a:xfrm>
            <a:off x="365760" y="1371600"/>
            <a:ext cx="11430000" cy="210312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3624470" name="TextBox 6"/>
          <p:cNvSpPr txBox="1"/>
          <p:nvPr/>
        </p:nvSpPr>
        <p:spPr bwMode="auto">
          <a:xfrm>
            <a:off x="530352" y="1481328"/>
            <a:ext cx="11100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Further research</a:t>
            </a:r>
            <a:endParaRPr/>
          </a:p>
        </p:txBody>
      </p:sp>
      <p:sp>
        <p:nvSpPr>
          <p:cNvPr id="180913544" name="TextBox 7"/>
          <p:cNvSpPr txBox="1"/>
          <p:nvPr/>
        </p:nvSpPr>
        <p:spPr bwMode="auto">
          <a:xfrm>
            <a:off x="530352" y="1828800"/>
            <a:ext cx="11100816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Large-scale usability/outcome study • Combined risk prediction • Deeper counselling-system integration • Native mobile apps • Luganda conversational support • Secure cloud deployment with privacy-preserving analytics.</a:t>
            </a:r>
            <a:endParaRPr/>
          </a:p>
        </p:txBody>
      </p:sp>
      <p:sp>
        <p:nvSpPr>
          <p:cNvPr id="1979257249" name="Rounded Rectangle 8"/>
          <p:cNvSpPr/>
          <p:nvPr/>
        </p:nvSpPr>
        <p:spPr bwMode="auto">
          <a:xfrm>
            <a:off x="365760" y="3657600"/>
            <a:ext cx="11430000" cy="2514600"/>
          </a:xfrm>
          <a:prstGeom prst="roundRect">
            <a:avLst>
              <a:gd name="adj" fmla="val 16667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3522884" name="TextBox 9"/>
          <p:cNvSpPr txBox="1"/>
          <p:nvPr/>
        </p:nvSpPr>
        <p:spPr bwMode="auto">
          <a:xfrm>
            <a:off x="530352" y="3767328"/>
            <a:ext cx="11100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600" b="1">
                <a:solidFill>
                  <a:srgbClr val="1B6B4A"/>
                </a:solidFill>
                <a:latin typeface="Calibri"/>
              </a:rPr>
              <a:t>Conclusion</a:t>
            </a:r>
            <a:endParaRPr/>
          </a:p>
        </p:txBody>
      </p:sp>
      <p:sp>
        <p:nvSpPr>
          <p:cNvPr id="591486225" name="TextBox 10"/>
          <p:cNvSpPr txBox="1"/>
          <p:nvPr/>
        </p:nvSpPr>
        <p:spPr bwMode="auto">
          <a:xfrm>
            <a:off x="530352" y="4114800"/>
            <a:ext cx="111008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>
                <a:solidFill>
                  <a:srgbClr val="1F2A28"/>
                </a:solidFill>
                <a:latin typeface="Calibri"/>
              </a:rPr>
              <a:t>The project designed, implemented and tested an AI-based conversational mental health support system for Kyambogo University. Survey analysis showed real student distress and demand for private AI support. The system delivers screening, CBT-informed chat, hybrid distress detection, crisis escalation and counselor tools, as a complement to professional care.</a:t>
            </a:r>
            <a:endParaRPr/>
          </a:p>
        </p:txBody>
      </p:sp>
      <p:sp>
        <p:nvSpPr>
          <p:cNvPr id="2042532049" name="Rectangle 11"/>
          <p:cNvSpPr/>
          <p:nvPr/>
        </p:nvSpPr>
        <p:spPr bwMode="auto">
          <a:xfrm>
            <a:off x="0" y="6601968"/>
            <a:ext cx="12191695" cy="25603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2378764" name="TextBox 12"/>
          <p:cNvSpPr txBox="1"/>
          <p:nvPr/>
        </p:nvSpPr>
        <p:spPr bwMode="auto"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KyU Wellness  |  Supervisor Presentation  |  August 2026</a:t>
            </a:r>
            <a:endParaRPr/>
          </a:p>
        </p:txBody>
      </p:sp>
      <p:sp>
        <p:nvSpPr>
          <p:cNvPr id="1328046678" name="TextBox 13"/>
          <p:cNvSpPr txBox="1"/>
          <p:nvPr/>
        </p:nvSpPr>
        <p:spPr bwMode="auto"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FFFFFF"/>
                </a:solidFill>
                <a:latin typeface="Calibri"/>
              </a:rPr>
              <a:t>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71230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4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406190" name="Rectangle 2"/>
          <p:cNvSpPr/>
          <p:nvPr/>
        </p:nvSpPr>
        <p:spPr bwMode="auto"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052455" name="TextBox 3"/>
          <p:cNvSpPr txBox="1"/>
          <p:nvPr/>
        </p:nvSpPr>
        <p:spPr bwMode="auto"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  <a:endParaRPr/>
          </a:p>
        </p:txBody>
      </p:sp>
      <p:sp>
        <p:nvSpPr>
          <p:cNvPr id="1908038399" name="TextBox 4"/>
          <p:cNvSpPr txBox="1"/>
          <p:nvPr/>
        </p:nvSpPr>
        <p:spPr bwMode="auto">
          <a:xfrm>
            <a:off x="731520" y="3200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0">
                <a:solidFill>
                  <a:srgbClr val="C4A35A"/>
                </a:solidFill>
                <a:latin typeface="Calibri"/>
              </a:rPr>
              <a:t>Questions and comments are welcome.</a:t>
            </a:r>
            <a:endParaRPr/>
          </a:p>
          <a:p>
            <a:pPr>
              <a:defRPr/>
            </a:pPr>
            <a:r>
              <a:rPr sz="1600" b="0">
                <a:solidFill>
                  <a:srgbClr val="F6F3EC"/>
                </a:solidFill>
                <a:latin typeface="Calibri"/>
              </a:rPr>
              <a:t>Supervisor: Dr. Busobozi Vivian Viola</a:t>
            </a:r>
            <a:endParaRPr/>
          </a:p>
          <a:p>
            <a:pPr>
              <a:defRPr/>
            </a:pPr>
            <a:r>
              <a:rPr sz="1500" b="0">
                <a:solidFill>
                  <a:srgbClr val="F6F3EC"/>
                </a:solidFill>
                <a:latin typeface="Calibri"/>
              </a:rPr>
              <a:t>Department of Computer Science  •  Kyambogo University  •  August 2026</a:t>
            </a:r>
            <a:endParaRPr/>
          </a:p>
        </p:txBody>
      </p:sp>
      <p:sp>
        <p:nvSpPr>
          <p:cNvPr id="598304475" name="Rectangle 5"/>
          <p:cNvSpPr/>
          <p:nvPr/>
        </p:nvSpPr>
        <p:spPr bwMode="auto">
          <a:xfrm>
            <a:off x="0" y="6537960"/>
            <a:ext cx="12191695" cy="32004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2026-09-02T07:39:53Z</dcterms:modified>
  <cp:category/>
</cp:coreProperties>
</file>